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4A50F8C-3D8D-4114-BDBC-A85F75E777A7}">
  <a:tblStyle styleId="{C4A50F8C-3D8D-4114-BDBC-A85F75E777A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 name="Google Shape;13;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Introduce the project directly: a point-to-point IPv4 tunnel between two Raspberry Pi 5 systems. The presentation covers implementation, protocol design, validation, and measurements.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README.md</a:t>
            </a:r>
            <a:endParaRPr/>
          </a:p>
          <a:p>
            <a:pPr indent="0" lvl="0" marL="0" rtl="0" algn="l">
              <a:spcBef>
                <a:spcPts val="0"/>
              </a:spcBef>
              <a:spcAft>
                <a:spcPts val="0"/>
              </a:spcAft>
              <a:buNone/>
            </a:pPr>
            <a:r>
              <a:rPr lang="en-US" sz="1200"/>
              <a:t>- code/README.md</a:t>
            </a:r>
            <a:endParaRPr/>
          </a:p>
          <a:p>
            <a:pPr indent="0" lvl="0" marL="0" rtl="0" algn="l">
              <a:spcBef>
                <a:spcPts val="0"/>
              </a:spcBef>
              <a:spcAft>
                <a:spcPts val="0"/>
              </a:spcAft>
              <a:buNone/>
            </a:pPr>
            <a:r>
              <a:rPr lang="en-US" sz="1200"/>
              <a:t>[/Sources]</a:t>
            </a:r>
            <a:endParaRPr/>
          </a:p>
        </p:txBody>
      </p:sp>
      <p:sp>
        <p:nvSpPr>
          <p:cNvPr id="14" name="Google Shape;14;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 name="Google Shape;37;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Use this table to set the exact scope. The tunnel handles arbitrary inner IPv4 traffic between two hosts. It does not act as an Internet gateway and does not claim to hide outer traffic metadata.</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code/README.md</a:t>
            </a:r>
            <a:endParaRPr/>
          </a:p>
          <a:p>
            <a:pPr indent="0" lvl="0" marL="0" rtl="0" algn="l">
              <a:spcBef>
                <a:spcPts val="0"/>
              </a:spcBef>
              <a:spcAft>
                <a:spcPts val="0"/>
              </a:spcAft>
              <a:buNone/>
            </a:pPr>
            <a:r>
              <a:rPr lang="en-US" sz="1200"/>
              <a:t>- code/docs/architecture.md</a:t>
            </a:r>
            <a:endParaRPr/>
          </a:p>
          <a:p>
            <a:pPr indent="0" lvl="0" marL="0" rtl="0" algn="l">
              <a:spcBef>
                <a:spcPts val="0"/>
              </a:spcBef>
              <a:spcAft>
                <a:spcPts val="0"/>
              </a:spcAft>
              <a:buNone/>
            </a:pPr>
            <a:r>
              <a:rPr lang="en-US" sz="1200"/>
              <a:t>- code/docs/protocol.md</a:t>
            </a:r>
            <a:endParaRPr/>
          </a:p>
          <a:p>
            <a:pPr indent="0" lvl="0" marL="0" rtl="0" algn="l">
              <a:spcBef>
                <a:spcPts val="0"/>
              </a:spcBef>
              <a:spcAft>
                <a:spcPts val="0"/>
              </a:spcAft>
              <a:buNone/>
            </a:pPr>
            <a:r>
              <a:rPr lang="en-US" sz="1200"/>
              <a:t>[/Sources]</a:t>
            </a:r>
            <a:endParaRPr/>
          </a:p>
        </p:txBody>
      </p:sp>
      <p:sp>
        <p:nvSpPr>
          <p:cNvPr id="38" name="Google Shape;38;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 name="Google Shape;47;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Follow the A-to-B path down Pi A, across Wi-Fi, and up Pi B. Linux selects tun0 from the inner destination. svpn uses one poll loop for the TUN and UDP file descriptors. Setup scripts own interface configuration; the process does not call sudo or modify routes or firewall state. The reverse data path is symmetric after the handshake.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code/docs/architecture.md</a:t>
            </a:r>
            <a:endParaRPr/>
          </a:p>
          <a:p>
            <a:pPr indent="0" lvl="0" marL="0" rtl="0" algn="l">
              <a:spcBef>
                <a:spcPts val="0"/>
              </a:spcBef>
              <a:spcAft>
                <a:spcPts val="0"/>
              </a:spcAft>
              <a:buNone/>
            </a:pPr>
            <a:r>
              <a:rPr lang="en-US" sz="1200"/>
              <a:t>- code/src/main.c</a:t>
            </a:r>
            <a:endParaRPr/>
          </a:p>
          <a:p>
            <a:pPr indent="0" lvl="0" marL="0" rtl="0" algn="l">
              <a:spcBef>
                <a:spcPts val="0"/>
              </a:spcBef>
              <a:spcAft>
                <a:spcPts val="0"/>
              </a:spcAft>
              <a:buNone/>
            </a:pPr>
            <a:r>
              <a:rPr lang="en-US" sz="1200"/>
              <a:t>- code/src/tun.c</a:t>
            </a:r>
            <a:endParaRPr/>
          </a:p>
          <a:p>
            <a:pPr indent="0" lvl="0" marL="0" rtl="0" algn="l">
              <a:spcBef>
                <a:spcPts val="0"/>
              </a:spcBef>
              <a:spcAft>
                <a:spcPts val="0"/>
              </a:spcAft>
              <a:buNone/>
            </a:pPr>
            <a:r>
              <a:rPr lang="en-US" sz="1200"/>
              <a:t>- code/src/udp.c</a:t>
            </a:r>
            <a:endParaRPr/>
          </a:p>
          <a:p>
            <a:pPr indent="0" lvl="0" marL="0" rtl="0" algn="l">
              <a:spcBef>
                <a:spcPts val="0"/>
              </a:spcBef>
              <a:spcAft>
                <a:spcPts val="0"/>
              </a:spcAft>
              <a:buNone/>
            </a:pPr>
            <a:r>
              <a:rPr lang="en-US" sz="1200"/>
              <a:t>[/Sources]</a:t>
            </a:r>
            <a:endParaRPr/>
          </a:p>
        </p:txBody>
      </p:sp>
      <p:sp>
        <p:nvSpPr>
          <p:cNvPr id="48" name="Google Shape;48;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9" name="Google Shape;99;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The transmit path increments a 64-bit sequence and builds the header before optional AEAD. The receive path checks the configured peer, parses lengths, checks the session, authenticates, then updates replay state. Only authenticated non-replayed plaintext is written into tun0. Sequence exhaustion terminates the session instead of wrapping.</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code/src/main.c</a:t>
            </a:r>
            <a:endParaRPr/>
          </a:p>
          <a:p>
            <a:pPr indent="0" lvl="0" marL="0" rtl="0" algn="l">
              <a:spcBef>
                <a:spcPts val="0"/>
              </a:spcBef>
              <a:spcAft>
                <a:spcPts val="0"/>
              </a:spcAft>
              <a:buNone/>
            </a:pPr>
            <a:r>
              <a:rPr lang="en-US" sz="1200"/>
              <a:t>- code/src/protocol.c</a:t>
            </a:r>
            <a:endParaRPr/>
          </a:p>
          <a:p>
            <a:pPr indent="0" lvl="0" marL="0" rtl="0" algn="l">
              <a:spcBef>
                <a:spcPts val="0"/>
              </a:spcBef>
              <a:spcAft>
                <a:spcPts val="0"/>
              </a:spcAft>
              <a:buNone/>
            </a:pPr>
            <a:r>
              <a:rPr lang="en-US" sz="1200"/>
              <a:t>- code/src/replay.c</a:t>
            </a:r>
            <a:endParaRPr/>
          </a:p>
          <a:p>
            <a:pPr indent="0" lvl="0" marL="0" rtl="0" algn="l">
              <a:spcBef>
                <a:spcPts val="0"/>
              </a:spcBef>
              <a:spcAft>
                <a:spcPts val="0"/>
              </a:spcAft>
              <a:buNone/>
            </a:pPr>
            <a:r>
              <a:rPr lang="en-US" sz="1200"/>
              <a:t>[/Sources]</a:t>
            </a:r>
            <a:endParaRPr/>
          </a:p>
        </p:txBody>
      </p:sp>
      <p:sp>
        <p:nvSpPr>
          <p:cNvPr id="100" name="Google Shape;100;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0" name="Google Shape;150;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The common header is exactly 28 bytes. The parser uses explicit offsets and lengths rather than serializing a C struct. In encrypted DATA, the header is AAD, the inner packet is ciphertext, and libsodium appends a 16-byte tag. At the 1400-byte TUN MTU, the complete outer IPv4 packet is 1472 bytes.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code/docs/protocol.md</a:t>
            </a:r>
            <a:endParaRPr/>
          </a:p>
          <a:p>
            <a:pPr indent="0" lvl="0" marL="0" rtl="0" algn="l">
              <a:spcBef>
                <a:spcPts val="0"/>
              </a:spcBef>
              <a:spcAft>
                <a:spcPts val="0"/>
              </a:spcAft>
              <a:buNone/>
            </a:pPr>
            <a:r>
              <a:rPr lang="en-US" sz="1200"/>
              <a:t>- code/src/protocol.c</a:t>
            </a:r>
            <a:endParaRPr/>
          </a:p>
          <a:p>
            <a:pPr indent="0" lvl="0" marL="0" rtl="0" algn="l">
              <a:spcBef>
                <a:spcPts val="0"/>
              </a:spcBef>
              <a:spcAft>
                <a:spcPts val="0"/>
              </a:spcAft>
              <a:buNone/>
            </a:pPr>
            <a:r>
              <a:rPr lang="en-US" sz="1200"/>
              <a:t>- code/include/common.h</a:t>
            </a:r>
            <a:endParaRPr/>
          </a:p>
          <a:p>
            <a:pPr indent="0" lvl="0" marL="0" rtl="0" algn="l">
              <a:spcBef>
                <a:spcPts val="0"/>
              </a:spcBef>
              <a:spcAft>
                <a:spcPts val="0"/>
              </a:spcAft>
              <a:buNone/>
            </a:pPr>
            <a:r>
              <a:rPr lang="en-US" sz="1200"/>
              <a:t>[/Sources]</a:t>
            </a:r>
            <a:endParaRPr/>
          </a:p>
        </p:txBody>
      </p:sp>
      <p:sp>
        <p:nvSpPr>
          <p:cNvPr id="151" name="Google Shape;151;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1" name="Google Shape;171;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Each process creates a fresh crypto_kx keypair. Long-term Ed25519 keys sign explicit transcripts and are verified against the pinned peer public key. The server echoes the client random, both sides compute the same session ID, and crypto_kx produces separate keys for each direction. Handshake messages are retransmitted because DATA itself has no tunnel-level reliability.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code/docs/protocol.md</a:t>
            </a:r>
            <a:endParaRPr/>
          </a:p>
          <a:p>
            <a:pPr indent="0" lvl="0" marL="0" rtl="0" algn="l">
              <a:spcBef>
                <a:spcPts val="0"/>
              </a:spcBef>
              <a:spcAft>
                <a:spcPts val="0"/>
              </a:spcAft>
              <a:buNone/>
            </a:pPr>
            <a:r>
              <a:rPr lang="en-US" sz="1200"/>
              <a:t>- code/src/handshake.c</a:t>
            </a:r>
            <a:endParaRPr/>
          </a:p>
          <a:p>
            <a:pPr indent="0" lvl="0" marL="0" rtl="0" algn="l">
              <a:spcBef>
                <a:spcPts val="0"/>
              </a:spcBef>
              <a:spcAft>
                <a:spcPts val="0"/>
              </a:spcAft>
              <a:buNone/>
            </a:pPr>
            <a:r>
              <a:rPr lang="en-US" sz="1200"/>
              <a:t>- code/src/crypto.c</a:t>
            </a:r>
            <a:endParaRPr/>
          </a:p>
          <a:p>
            <a:pPr indent="0" lvl="0" marL="0" rtl="0" algn="l">
              <a:spcBef>
                <a:spcPts val="0"/>
              </a:spcBef>
              <a:spcAft>
                <a:spcPts val="0"/>
              </a:spcAft>
              <a:buNone/>
            </a:pPr>
            <a:r>
              <a:rPr lang="en-US" sz="1200"/>
              <a:t>[/Sources]</a:t>
            </a:r>
            <a:endParaRPr/>
          </a:p>
        </p:txBody>
      </p:sp>
      <p:sp>
        <p:nvSpPr>
          <p:cNvPr id="172" name="Google Shape;172;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4" name="Google Shape;194;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The assertion count is not the main point; the matrix shows what was exercised. Parser fuzz-like inputs, cryptographic tampering, handshake identity failures, and replay edge conditions are unit tested. The same code was then exercised end-to-end on the two-Pi testbed.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code/docs/testing.md</a:t>
            </a:r>
            <a:endParaRPr/>
          </a:p>
          <a:p>
            <a:pPr indent="0" lvl="0" marL="0" rtl="0" algn="l">
              <a:spcBef>
                <a:spcPts val="0"/>
              </a:spcBef>
              <a:spcAft>
                <a:spcPts val="0"/>
              </a:spcAft>
              <a:buNone/>
            </a:pPr>
            <a:r>
              <a:rPr lang="en-US" sz="1200"/>
              <a:t>- more_docs/analysis.md</a:t>
            </a:r>
            <a:endParaRPr/>
          </a:p>
          <a:p>
            <a:pPr indent="0" lvl="0" marL="0" rtl="0" algn="l">
              <a:spcBef>
                <a:spcPts val="0"/>
              </a:spcBef>
              <a:spcAft>
                <a:spcPts val="0"/>
              </a:spcAft>
              <a:buNone/>
            </a:pPr>
            <a:r>
              <a:rPr lang="en-US" sz="1200"/>
              <a:t>- code/tests/test_protocol.c</a:t>
            </a:r>
            <a:endParaRPr/>
          </a:p>
          <a:p>
            <a:pPr indent="0" lvl="0" marL="0" rtl="0" algn="l">
              <a:spcBef>
                <a:spcPts val="0"/>
              </a:spcBef>
              <a:spcAft>
                <a:spcPts val="0"/>
              </a:spcAft>
              <a:buNone/>
            </a:pPr>
            <a:r>
              <a:rPr lang="en-US" sz="1200"/>
              <a:t>- code/tests/test_crypto.c</a:t>
            </a:r>
            <a:endParaRPr/>
          </a:p>
          <a:p>
            <a:pPr indent="0" lvl="0" marL="0" rtl="0" algn="l">
              <a:spcBef>
                <a:spcPts val="0"/>
              </a:spcBef>
              <a:spcAft>
                <a:spcPts val="0"/>
              </a:spcAft>
              <a:buNone/>
            </a:pPr>
            <a:r>
              <a:rPr lang="en-US" sz="1200"/>
              <a:t>- code/tests/test_handshake.c</a:t>
            </a:r>
            <a:endParaRPr/>
          </a:p>
          <a:p>
            <a:pPr indent="0" lvl="0" marL="0" rtl="0" algn="l">
              <a:spcBef>
                <a:spcPts val="0"/>
              </a:spcBef>
              <a:spcAft>
                <a:spcPts val="0"/>
              </a:spcAft>
              <a:buNone/>
            </a:pPr>
            <a:r>
              <a:rPr lang="en-US" sz="1200"/>
              <a:t>- code/tests/test_replay.c</a:t>
            </a:r>
            <a:endParaRPr/>
          </a:p>
          <a:p>
            <a:pPr indent="0" lvl="0" marL="0" rtl="0" algn="l">
              <a:spcBef>
                <a:spcPts val="0"/>
              </a:spcBef>
              <a:spcAft>
                <a:spcPts val="0"/>
              </a:spcAft>
              <a:buNone/>
            </a:pPr>
            <a:r>
              <a:rPr lang="en-US" sz="1200"/>
              <a:t>[/Sources]</a:t>
            </a:r>
            <a:endParaRPr/>
          </a:p>
        </p:txBody>
      </p:sp>
      <p:sp>
        <p:nvSpPr>
          <p:cNvPr id="195" name="Google Shape;195;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4" name="Google Shape;204;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The marker appears in the inner capture and the plaintext outer control, but not in the encrypted outer capture. The SVPN magic remains visible because the common header is authenticated as AAD rather than encrypted. This is evidence for inner-payload confidentiality only.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more_docs/analysis.md</a:t>
            </a:r>
            <a:endParaRPr/>
          </a:p>
          <a:p>
            <a:pPr indent="0" lvl="0" marL="0" rtl="0" algn="l">
              <a:spcBef>
                <a:spcPts val="0"/>
              </a:spcBef>
              <a:spcAft>
                <a:spcPts val="0"/>
              </a:spcAft>
              <a:buNone/>
            </a:pPr>
            <a:r>
              <a:rPr lang="en-US" sz="1200"/>
              <a:t>- code/scripts/capture_demo.sh</a:t>
            </a:r>
            <a:endParaRPr/>
          </a:p>
          <a:p>
            <a:pPr indent="0" lvl="0" marL="0" rtl="0" algn="l">
              <a:spcBef>
                <a:spcPts val="0"/>
              </a:spcBef>
              <a:spcAft>
                <a:spcPts val="0"/>
              </a:spcAft>
              <a:buNone/>
            </a:pPr>
            <a:r>
              <a:rPr lang="en-US" sz="1200"/>
              <a:t>- code/captures/encrypted_tun0.pcap</a:t>
            </a:r>
            <a:endParaRPr/>
          </a:p>
          <a:p>
            <a:pPr indent="0" lvl="0" marL="0" rtl="0" algn="l">
              <a:spcBef>
                <a:spcPts val="0"/>
              </a:spcBef>
              <a:spcAft>
                <a:spcPts val="0"/>
              </a:spcAft>
              <a:buNone/>
            </a:pPr>
            <a:r>
              <a:rPr lang="en-US" sz="1200"/>
              <a:t>- code/captures/encrypted_wlan0.pcap</a:t>
            </a:r>
            <a:endParaRPr/>
          </a:p>
          <a:p>
            <a:pPr indent="0" lvl="0" marL="0" rtl="0" algn="l">
              <a:spcBef>
                <a:spcPts val="0"/>
              </a:spcBef>
              <a:spcAft>
                <a:spcPts val="0"/>
              </a:spcAft>
              <a:buNone/>
            </a:pPr>
            <a:r>
              <a:rPr lang="en-US" sz="1200"/>
              <a:t>- code/captures/plaintext_wlan0.pcap</a:t>
            </a:r>
            <a:endParaRPr/>
          </a:p>
          <a:p>
            <a:pPr indent="0" lvl="0" marL="0" rtl="0" algn="l">
              <a:spcBef>
                <a:spcPts val="0"/>
              </a:spcBef>
              <a:spcAft>
                <a:spcPts val="0"/>
              </a:spcAft>
              <a:buNone/>
            </a:pPr>
            <a:r>
              <a:rPr lang="en-US" sz="1200"/>
              <a:t>[/Sources]</a:t>
            </a:r>
            <a:endParaRPr/>
          </a:p>
        </p:txBody>
      </p:sp>
      <p:sp>
        <p:nvSpPr>
          <p:cNvPr id="205" name="Google Shape;205;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6" name="Google Shape;216;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The two grouped campaigns show about 7 percent incremental crypto cost in A-to-B TCP. In the interleaved campaign, direct and encrypted means are effectively identical while process CPU still increases by about five percentage points on each Pi. That stable CPU delta is stronger evidence of cryptographic cost than the variable Mbps gap.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code/results/20260828-182523/summary.md</a:t>
            </a:r>
            <a:endParaRPr/>
          </a:p>
          <a:p>
            <a:pPr indent="0" lvl="0" marL="0" rtl="0" algn="l">
              <a:spcBef>
                <a:spcPts val="0"/>
              </a:spcBef>
              <a:spcAft>
                <a:spcPts val="0"/>
              </a:spcAft>
              <a:buNone/>
            </a:pPr>
            <a:r>
              <a:rPr lang="en-US" sz="1200"/>
              <a:t>- code/results/20260828-192034/summary.md</a:t>
            </a:r>
            <a:endParaRPr/>
          </a:p>
          <a:p>
            <a:pPr indent="0" lvl="0" marL="0" rtl="0" algn="l">
              <a:spcBef>
                <a:spcPts val="0"/>
              </a:spcBef>
              <a:spcAft>
                <a:spcPts val="0"/>
              </a:spcAft>
              <a:buNone/>
            </a:pPr>
            <a:r>
              <a:rPr lang="en-US" sz="1200"/>
              <a:t>- code/results/20260828-203143/summary.md</a:t>
            </a:r>
            <a:endParaRPr/>
          </a:p>
          <a:p>
            <a:pPr indent="0" lvl="0" marL="0" rtl="0" algn="l">
              <a:spcBef>
                <a:spcPts val="0"/>
              </a:spcBef>
              <a:spcAft>
                <a:spcPts val="0"/>
              </a:spcAft>
              <a:buNone/>
            </a:pPr>
            <a:r>
              <a:rPr lang="en-US" sz="1200"/>
              <a:t>- more_docs/analysis.md</a:t>
            </a:r>
            <a:endParaRPr/>
          </a:p>
          <a:p>
            <a:pPr indent="0" lvl="0" marL="0" rtl="0" algn="l">
              <a:spcBef>
                <a:spcPts val="0"/>
              </a:spcBef>
              <a:spcAft>
                <a:spcPts val="0"/>
              </a:spcAft>
              <a:buNone/>
            </a:pPr>
            <a:r>
              <a:rPr lang="en-US" sz="1200"/>
              <a:t>[/Sources]</a:t>
            </a:r>
            <a:endParaRPr/>
          </a:p>
        </p:txBody>
      </p:sp>
      <p:sp>
        <p:nvSpPr>
          <p:cNvPr id="217" name="Google Shape;217;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1" name="Google Shape;231;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The loaded-latency experiment is noisy but shows strong queueing on the shared access point. The max-effort UDP table separates packet-rate and bit-rate limits. Tiny datagrams plateau near 23 to 25 thousand packets per second. Large datagrams reach 38 to 43 Mbps receive goodput at this high offer, with the access point dropping a large fraction in every mode.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code/results/20260830-121636-packet/summary.md</a:t>
            </a:r>
            <a:endParaRPr/>
          </a:p>
          <a:p>
            <a:pPr indent="0" lvl="0" marL="0" rtl="0" algn="l">
              <a:spcBef>
                <a:spcPts val="0"/>
              </a:spcBef>
              <a:spcAft>
                <a:spcPts val="0"/>
              </a:spcAft>
              <a:buNone/>
            </a:pPr>
            <a:r>
              <a:rPr lang="en-US" sz="1200"/>
              <a:t>- more_docs/analysis.md</a:t>
            </a:r>
            <a:endParaRPr/>
          </a:p>
          <a:p>
            <a:pPr indent="0" lvl="0" marL="0" rtl="0" algn="l">
              <a:spcBef>
                <a:spcPts val="0"/>
              </a:spcBef>
              <a:spcAft>
                <a:spcPts val="0"/>
              </a:spcAft>
              <a:buNone/>
            </a:pPr>
            <a:r>
              <a:rPr lang="en-US" sz="1200"/>
              <a:t>[/Sources]</a:t>
            </a:r>
            <a:endParaRPr/>
          </a:p>
        </p:txBody>
      </p:sp>
      <p:sp>
        <p:nvSpPr>
          <p:cNvPr id="232" name="Google Shape;232;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5" name="Google Shape;245;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End with the exact claims supported by the implementation and measurements. The tunnel establishes an authenticated session, protects and replay-checks each DATA packet, and forwards real IP traffic. The main engineering limitations are session lifecycle, scaling beyond two peers, process hardening, packet batching, queue control, and traffic metadata.</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code/README.md</a:t>
            </a:r>
            <a:endParaRPr/>
          </a:p>
          <a:p>
            <a:pPr indent="0" lvl="0" marL="0" rtl="0" algn="l">
              <a:spcBef>
                <a:spcPts val="0"/>
              </a:spcBef>
              <a:spcAft>
                <a:spcPts val="0"/>
              </a:spcAft>
              <a:buNone/>
            </a:pPr>
            <a:r>
              <a:rPr lang="en-US" sz="1200"/>
              <a:t>- more_docs/analysis.md</a:t>
            </a:r>
            <a:endParaRPr/>
          </a:p>
          <a:p>
            <a:pPr indent="0" lvl="0" marL="0" rtl="0" algn="l">
              <a:spcBef>
                <a:spcPts val="0"/>
              </a:spcBef>
              <a:spcAft>
                <a:spcPts val="0"/>
              </a:spcAft>
              <a:buNone/>
            </a:pPr>
            <a:r>
              <a:rPr lang="en-US" sz="1200"/>
              <a:t>- code/results/20260828-203143/summary.md</a:t>
            </a:r>
            <a:endParaRPr/>
          </a:p>
          <a:p>
            <a:pPr indent="0" lvl="0" marL="0" rtl="0" algn="l">
              <a:spcBef>
                <a:spcPts val="0"/>
              </a:spcBef>
              <a:spcAft>
                <a:spcPts val="0"/>
              </a:spcAft>
              <a:buNone/>
            </a:pPr>
            <a:r>
              <a:rPr lang="en-US" sz="1200"/>
              <a:t>- code/results/20260830-121636-packet/summary.md</a:t>
            </a:r>
            <a:endParaRPr/>
          </a:p>
          <a:p>
            <a:pPr indent="0" lvl="0" marL="0" rtl="0" algn="l">
              <a:spcBef>
                <a:spcPts val="0"/>
              </a:spcBef>
              <a:spcAft>
                <a:spcPts val="0"/>
              </a:spcAft>
              <a:buNone/>
            </a:pPr>
            <a:r>
              <a:rPr lang="en-US" sz="1200"/>
              <a:t>[/Sources]</a:t>
            </a:r>
            <a:endParaRPr/>
          </a:p>
        </p:txBody>
      </p:sp>
      <p:sp>
        <p:nvSpPr>
          <p:cNvPr id="246" name="Google Shape;246;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sp>
        <p:nvSpPr>
          <p:cNvPr id="16" name="Google Shape;16;p3"/>
          <p:cNvSpPr/>
          <p:nvPr/>
        </p:nvSpPr>
        <p:spPr>
          <a:xfrm>
            <a:off x="7620000" y="0"/>
            <a:ext cx="4572000" cy="6858000"/>
          </a:xfrm>
          <a:prstGeom prst="rect">
            <a:avLst/>
          </a:prstGeom>
          <a:solidFill>
            <a:srgbClr val="16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8096250" y="1047750"/>
            <a:ext cx="2857500" cy="228600"/>
          </a:xfrm>
          <a:prstGeom prst="roundRect">
            <a:avLst>
              <a:gd fmla="val 20833" name="adj"/>
            </a:avLst>
          </a:prstGeom>
          <a:solidFill>
            <a:srgbClr val="315F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11125200" y="1047750"/>
            <a:ext cx="495300" cy="228600"/>
          </a:xfrm>
          <a:prstGeom prst="roundRect">
            <a:avLst>
              <a:gd fmla="val 20833" name="adj"/>
            </a:avLst>
          </a:prstGeom>
          <a:solidFill>
            <a:srgbClr val="5683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a:off x="8096250" y="1714500"/>
            <a:ext cx="3381375" cy="228600"/>
          </a:xfrm>
          <a:prstGeom prst="roundRect">
            <a:avLst>
              <a:gd fmla="val 20833" name="adj"/>
            </a:avLst>
          </a:prstGeom>
          <a:solidFill>
            <a:srgbClr val="315F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a:off x="11125200" y="1714500"/>
            <a:ext cx="495300" cy="228600"/>
          </a:xfrm>
          <a:prstGeom prst="roundRect">
            <a:avLst>
              <a:gd fmla="val 20833" name="adj"/>
            </a:avLst>
          </a:prstGeom>
          <a:solidFill>
            <a:srgbClr val="5683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p:nvPr/>
        </p:nvSpPr>
        <p:spPr>
          <a:xfrm>
            <a:off x="8096250" y="2381250"/>
            <a:ext cx="2857500" cy="228600"/>
          </a:xfrm>
          <a:prstGeom prst="roundRect">
            <a:avLst>
              <a:gd fmla="val 20833" name="adj"/>
            </a:avLst>
          </a:prstGeom>
          <a:solidFill>
            <a:srgbClr val="6DCB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a:off x="11125200" y="2381250"/>
            <a:ext cx="495300" cy="228600"/>
          </a:xfrm>
          <a:prstGeom prst="roundRect">
            <a:avLst>
              <a:gd fmla="val 20833"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a:off x="8096250" y="3048000"/>
            <a:ext cx="3381375" cy="228600"/>
          </a:xfrm>
          <a:prstGeom prst="roundRect">
            <a:avLst>
              <a:gd fmla="val 20833" name="adj"/>
            </a:avLst>
          </a:prstGeom>
          <a:solidFill>
            <a:srgbClr val="315F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a:off x="11125200" y="3048000"/>
            <a:ext cx="495300" cy="228600"/>
          </a:xfrm>
          <a:prstGeom prst="roundRect">
            <a:avLst>
              <a:gd fmla="val 20833" name="adj"/>
            </a:avLst>
          </a:prstGeom>
          <a:solidFill>
            <a:srgbClr val="5683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a:off x="8096250" y="3714750"/>
            <a:ext cx="2857500" cy="228600"/>
          </a:xfrm>
          <a:prstGeom prst="roundRect">
            <a:avLst>
              <a:gd fmla="val 20833" name="adj"/>
            </a:avLst>
          </a:prstGeom>
          <a:solidFill>
            <a:srgbClr val="315F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a:off x="11125200" y="3714750"/>
            <a:ext cx="495300" cy="228600"/>
          </a:xfrm>
          <a:prstGeom prst="roundRect">
            <a:avLst>
              <a:gd fmla="val 20833" name="adj"/>
            </a:avLst>
          </a:prstGeom>
          <a:solidFill>
            <a:srgbClr val="5683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a:off x="8096250" y="4381500"/>
            <a:ext cx="3381375" cy="228600"/>
          </a:xfrm>
          <a:prstGeom prst="roundRect">
            <a:avLst>
              <a:gd fmla="val 20833" name="adj"/>
            </a:avLst>
          </a:prstGeom>
          <a:solidFill>
            <a:srgbClr val="315F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a:off x="11125200" y="4381500"/>
            <a:ext cx="495300" cy="228600"/>
          </a:xfrm>
          <a:prstGeom prst="roundRect">
            <a:avLst>
              <a:gd fmla="val 20833" name="adj"/>
            </a:avLst>
          </a:prstGeom>
          <a:solidFill>
            <a:srgbClr val="5683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a:off x="8096250" y="5048250"/>
            <a:ext cx="2857500" cy="228600"/>
          </a:xfrm>
          <a:prstGeom prst="roundRect">
            <a:avLst>
              <a:gd fmla="val 20833" name="adj"/>
            </a:avLst>
          </a:prstGeom>
          <a:solidFill>
            <a:srgbClr val="315F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a:off x="11125200" y="5048250"/>
            <a:ext cx="495300" cy="228600"/>
          </a:xfrm>
          <a:prstGeom prst="roundRect">
            <a:avLst>
              <a:gd fmla="val 20833" name="adj"/>
            </a:avLst>
          </a:prstGeom>
          <a:solidFill>
            <a:srgbClr val="5683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a:off x="552450" y="590550"/>
            <a:ext cx="5715000" cy="2476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D8DFF"/>
              </a:buClr>
              <a:buSzPts val="1200"/>
              <a:buFont typeface="Arial"/>
              <a:buNone/>
            </a:pPr>
            <a:r>
              <a:rPr b="1" lang="en-US" sz="1200">
                <a:solidFill>
                  <a:srgbClr val="3D8DFF"/>
                </a:solidFill>
              </a:rPr>
              <a:t>CS331 · TEAM T005 · PROJECT 1</a:t>
            </a:r>
            <a:endParaRPr/>
          </a:p>
        </p:txBody>
      </p:sp>
      <p:sp>
        <p:nvSpPr>
          <p:cNvPr id="32" name="Google Shape;32;p3"/>
          <p:cNvSpPr/>
          <p:nvPr/>
        </p:nvSpPr>
        <p:spPr>
          <a:xfrm>
            <a:off x="552450" y="1638300"/>
            <a:ext cx="6191250" cy="1524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11418"/>
              </a:buClr>
              <a:buSzPts val="5100"/>
              <a:buFont typeface="Arial"/>
              <a:buNone/>
            </a:pPr>
            <a:r>
              <a:rPr b="1" lang="en-US" sz="5100">
                <a:solidFill>
                  <a:srgbClr val="111418"/>
                </a:solidFill>
              </a:rPr>
              <a:t>Minimal VPN</a:t>
            </a:r>
            <a:endParaRPr/>
          </a:p>
          <a:p>
            <a:pPr indent="0" lvl="0" marL="0" marR="0" rtl="0" algn="l">
              <a:spcBef>
                <a:spcPts val="0"/>
              </a:spcBef>
              <a:spcAft>
                <a:spcPts val="0"/>
              </a:spcAft>
              <a:buClr>
                <a:srgbClr val="111418"/>
              </a:buClr>
              <a:buSzPts val="5100"/>
              <a:buFont typeface="Arial"/>
              <a:buNone/>
            </a:pPr>
            <a:r>
              <a:rPr b="1" lang="en-US" sz="5100">
                <a:solidFill>
                  <a:srgbClr val="111418"/>
                </a:solidFill>
              </a:rPr>
              <a:t>Tunnel</a:t>
            </a:r>
            <a:endParaRPr/>
          </a:p>
        </p:txBody>
      </p:sp>
      <p:sp>
        <p:nvSpPr>
          <p:cNvPr id="33" name="Google Shape;33;p3"/>
          <p:cNvSpPr/>
          <p:nvPr/>
        </p:nvSpPr>
        <p:spPr>
          <a:xfrm>
            <a:off x="552450" y="4894550"/>
            <a:ext cx="5187600" cy="2213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11418"/>
              </a:buClr>
              <a:buSzPts val="1275"/>
              <a:buFont typeface="Arial"/>
              <a:buNone/>
            </a:pPr>
            <a:r>
              <a:rPr b="0" lang="en-US" sz="1875">
                <a:solidFill>
                  <a:srgbClr val="111418"/>
                </a:solidFill>
              </a:rPr>
              <a:t>Aayush Kuloor - 24110004</a:t>
            </a:r>
            <a:endParaRPr sz="1875">
              <a:solidFill>
                <a:srgbClr val="111418"/>
              </a:solidFill>
            </a:endParaRPr>
          </a:p>
          <a:p>
            <a:pPr indent="0" lvl="0" marL="0" marR="0" rtl="0" algn="l">
              <a:spcBef>
                <a:spcPts val="0"/>
              </a:spcBef>
              <a:spcAft>
                <a:spcPts val="0"/>
              </a:spcAft>
              <a:buClr>
                <a:srgbClr val="111418"/>
              </a:buClr>
              <a:buSzPts val="1275"/>
              <a:buFont typeface="Arial"/>
              <a:buNone/>
            </a:pPr>
            <a:r>
              <a:rPr b="0" lang="en-US" sz="1875">
                <a:solidFill>
                  <a:srgbClr val="111418"/>
                </a:solidFill>
              </a:rPr>
              <a:t>Anvit Aggarwal - 24110048</a:t>
            </a:r>
            <a:endParaRPr sz="1875">
              <a:solidFill>
                <a:srgbClr val="111418"/>
              </a:solidFill>
            </a:endParaRPr>
          </a:p>
          <a:p>
            <a:pPr indent="0" lvl="0" marL="0" marR="0" rtl="0" algn="l">
              <a:spcBef>
                <a:spcPts val="0"/>
              </a:spcBef>
              <a:spcAft>
                <a:spcPts val="0"/>
              </a:spcAft>
              <a:buClr>
                <a:srgbClr val="111418"/>
              </a:buClr>
              <a:buSzPts val="1275"/>
              <a:buFont typeface="Arial"/>
              <a:buNone/>
            </a:pPr>
            <a:r>
              <a:rPr b="0" lang="en-US" sz="1875">
                <a:solidFill>
                  <a:srgbClr val="111418"/>
                </a:solidFill>
              </a:rPr>
              <a:t>Dhru Harsh Darshakbhai - 24110107</a:t>
            </a:r>
            <a:endParaRPr sz="1875">
              <a:solidFill>
                <a:srgbClr val="111418"/>
              </a:solidFill>
            </a:endParaRPr>
          </a:p>
          <a:p>
            <a:pPr indent="0" lvl="0" marL="0" marR="0" rtl="0" algn="l">
              <a:spcBef>
                <a:spcPts val="0"/>
              </a:spcBef>
              <a:spcAft>
                <a:spcPts val="0"/>
              </a:spcAft>
              <a:buClr>
                <a:srgbClr val="111418"/>
              </a:buClr>
              <a:buSzPts val="1275"/>
              <a:buFont typeface="Arial"/>
              <a:buNone/>
            </a:pPr>
            <a:r>
              <a:rPr b="0" lang="en-US" sz="1875">
                <a:solidFill>
                  <a:srgbClr val="111418"/>
                </a:solidFill>
              </a:rPr>
              <a:t>Raj Amit Modi - 241</a:t>
            </a:r>
            <a:r>
              <a:rPr lang="en-US" sz="1875">
                <a:solidFill>
                  <a:srgbClr val="111418"/>
                </a:solidFill>
              </a:rPr>
              <a:t>10282</a:t>
            </a:r>
            <a:endParaRPr sz="2000"/>
          </a:p>
        </p:txBody>
      </p:sp>
      <p:sp>
        <p:nvSpPr>
          <p:cNvPr id="34" name="Google Shape;34;p3"/>
          <p:cNvSpPr/>
          <p:nvPr/>
        </p:nvSpPr>
        <p:spPr>
          <a:xfrm>
            <a:off x="8039100" y="5638800"/>
            <a:ext cx="3737400" cy="590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1650"/>
              <a:buFont typeface="Arial"/>
              <a:buNone/>
            </a:pPr>
            <a:r>
              <a:rPr b="1" lang="en-US" sz="1650">
                <a:solidFill>
                  <a:srgbClr val="FFFFFF"/>
                </a:solidFill>
              </a:rPr>
              <a:t>Point-to-point IPv4 tunnel</a:t>
            </a:r>
            <a:endParaRPr/>
          </a:p>
          <a:p>
            <a:pPr indent="0" lvl="0" marL="0" marR="0" rtl="0" algn="l">
              <a:spcBef>
                <a:spcPts val="0"/>
              </a:spcBef>
              <a:spcAft>
                <a:spcPts val="0"/>
              </a:spcAft>
              <a:buClr>
                <a:srgbClr val="FFFFFF"/>
              </a:buClr>
              <a:buSzPts val="1650"/>
              <a:buFont typeface="Arial"/>
              <a:buNone/>
            </a:pPr>
            <a:r>
              <a:rPr b="1" lang="en-US" sz="1650">
                <a:solidFill>
                  <a:srgbClr val="FFFFFF"/>
                </a:solidFill>
              </a:rPr>
              <a:t>Raspberry Pi 5 ↔ Raspberry Pi 5</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 name="Shape 39"/>
        <p:cNvGrpSpPr/>
        <p:nvPr/>
      </p:nvGrpSpPr>
      <p:grpSpPr>
        <a:xfrm>
          <a:off x="0" y="0"/>
          <a:ext cx="0" cy="0"/>
          <a:chOff x="0" y="0"/>
          <a:chExt cx="0" cy="0"/>
        </a:xfrm>
      </p:grpSpPr>
      <p:sp>
        <p:nvSpPr>
          <p:cNvPr id="40" name="Google Shape;40;p4"/>
          <p:cNvSpPr/>
          <p:nvPr/>
        </p:nvSpPr>
        <p:spPr>
          <a:xfrm>
            <a:off x="457200" y="171450"/>
            <a:ext cx="4762500" cy="209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D8DFF"/>
              </a:buClr>
              <a:buSzPts val="1050"/>
              <a:buFont typeface="Arial"/>
              <a:buNone/>
            </a:pPr>
            <a:r>
              <a:rPr b="1" lang="en-US" sz="1050">
                <a:solidFill>
                  <a:srgbClr val="3D8DFF"/>
                </a:solidFill>
              </a:rPr>
              <a:t> OVERVIEW</a:t>
            </a:r>
            <a:endParaRPr/>
          </a:p>
        </p:txBody>
      </p:sp>
      <p:sp>
        <p:nvSpPr>
          <p:cNvPr id="41" name="Google Shape;41;p4"/>
          <p:cNvSpPr/>
          <p:nvPr/>
        </p:nvSpPr>
        <p:spPr>
          <a:xfrm>
            <a:off x="457200" y="552450"/>
            <a:ext cx="112395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11418"/>
              </a:buClr>
              <a:buSzPts val="2625"/>
              <a:buFont typeface="Arial"/>
              <a:buNone/>
            </a:pPr>
            <a:r>
              <a:rPr b="1" lang="en-US" sz="2625">
                <a:solidFill>
                  <a:srgbClr val="111418"/>
                </a:solidFill>
              </a:rPr>
              <a:t>System scope and design choices</a:t>
            </a:r>
            <a:endParaRPr/>
          </a:p>
        </p:txBody>
      </p:sp>
      <p:cxnSp>
        <p:nvCxnSpPr>
          <p:cNvPr id="42" name="Google Shape;42;p4"/>
          <p:cNvCxnSpPr/>
          <p:nvPr/>
        </p:nvCxnSpPr>
        <p:spPr>
          <a:xfrm>
            <a:off x="457200" y="1257300"/>
            <a:ext cx="11277600" cy="0"/>
          </a:xfrm>
          <a:prstGeom prst="straightConnector1">
            <a:avLst/>
          </a:prstGeom>
          <a:noFill/>
          <a:ln cap="flat" cmpd="sng" w="9525">
            <a:solidFill>
              <a:srgbClr val="B8BCC4"/>
            </a:solidFill>
            <a:prstDash val="solid"/>
            <a:round/>
            <a:headEnd len="sm" w="sm" type="none"/>
            <a:tailEnd len="sm" w="sm" type="none"/>
          </a:ln>
        </p:spPr>
      </p:cxnSp>
      <p:sp>
        <p:nvSpPr>
          <p:cNvPr id="43" name="Google Shape;43;p4"/>
          <p:cNvSpPr/>
          <p:nvPr/>
        </p:nvSpPr>
        <p:spPr>
          <a:xfrm>
            <a:off x="11001375" y="6429375"/>
            <a:ext cx="733425" cy="1714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5E6672"/>
              </a:buClr>
              <a:buSzPts val="900"/>
              <a:buFont typeface="Arial"/>
              <a:buNone/>
            </a:pPr>
            <a:r>
              <a:rPr b="0" lang="en-US" sz="900">
                <a:solidFill>
                  <a:srgbClr val="5E6672"/>
                </a:solidFill>
              </a:rPr>
              <a:t>· 02</a:t>
            </a:r>
            <a:endParaRPr/>
          </a:p>
        </p:txBody>
      </p:sp>
      <p:graphicFrame>
        <p:nvGraphicFramePr>
          <p:cNvPr id="44" name="Google Shape;44;p4"/>
          <p:cNvGraphicFramePr/>
          <p:nvPr/>
        </p:nvGraphicFramePr>
        <p:xfrm>
          <a:off x="514350" y="1466850"/>
          <a:ext cx="3000000" cy="3000000"/>
        </p:xfrm>
        <a:graphic>
          <a:graphicData uri="http://schemas.openxmlformats.org/drawingml/2006/table">
            <a:tbl>
              <a:tblPr>
                <a:noFill/>
                <a:tableStyleId>{C4A50F8C-3D8D-4114-BDBC-A85F75E777A7}</a:tableStyleId>
              </a:tblPr>
              <a:tblGrid>
                <a:gridCol w="1714500"/>
                <a:gridCol w="3714750"/>
                <a:gridCol w="5734050"/>
              </a:tblGrid>
              <a:tr h="533400">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rPr>
                        <a:t>Item</a:t>
                      </a:r>
                      <a:endParaRPr/>
                    </a:p>
                  </a:txBody>
                  <a:tcPr marT="38100" marB="38100" marR="47625" marL="47625" anchor="ctr">
                    <a:solidFill>
                      <a:srgbClr val="163A5F"/>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rPr>
                        <a:t>Choice</a:t>
                      </a:r>
                      <a:endParaRPr/>
                    </a:p>
                  </a:txBody>
                  <a:tcPr marT="38100" marB="38100" marR="47625" marL="47625" anchor="ctr">
                    <a:solidFill>
                      <a:srgbClr val="163A5F"/>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rPr>
                        <a:t>Reason / consequence</a:t>
                      </a:r>
                      <a:endParaRPr/>
                    </a:p>
                  </a:txBody>
                  <a:tcPr marT="38100" marB="38100" marR="47625" marL="47625" anchor="ctr">
                    <a:solidFill>
                      <a:srgbClr val="163A5F"/>
                    </a:solidFill>
                  </a:tcPr>
                </a:tc>
              </a:tr>
              <a:tr h="533400">
                <a:tc>
                  <a:txBody>
                    <a:bodyPr/>
                    <a:lstStyle/>
                    <a:p>
                      <a:pPr indent="0" lvl="0" marL="0" marR="0" rtl="0" algn="l">
                        <a:spcBef>
                          <a:spcPts val="0"/>
                        </a:spcBef>
                        <a:spcAft>
                          <a:spcPts val="0"/>
                        </a:spcAft>
                        <a:buClr>
                          <a:srgbClr val="111418"/>
                        </a:buClr>
                        <a:buSzPts val="1200"/>
                        <a:buFont typeface="Calibri"/>
                        <a:buNone/>
                      </a:pPr>
                      <a:r>
                        <a:rPr b="1" lang="en-US" sz="1200" u="none" cap="none" strike="noStrike">
                          <a:solidFill>
                            <a:srgbClr val="111418"/>
                          </a:solidFill>
                        </a:rPr>
                        <a:t>Inner network</a:t>
                      </a:r>
                      <a:endParaRPr/>
                    </a:p>
                  </a:txBody>
                  <a:tcPr marT="38100" marB="38100" marR="57150" marL="76200" anchor="ctr">
                    <a:solidFill>
                      <a:srgbClr val="F0F2F4"/>
                    </a:solidFill>
                  </a:tcPr>
                </a:tc>
                <a:tc>
                  <a:txBody>
                    <a:bodyPr/>
                    <a:lstStyle/>
                    <a:p>
                      <a:pPr indent="0" lvl="0" marL="0" marR="0" rtl="0" algn="ctr">
                        <a:spcBef>
                          <a:spcPts val="0"/>
                        </a:spcBef>
                        <a:spcAft>
                          <a:spcPts val="0"/>
                        </a:spcAft>
                        <a:buClr>
                          <a:srgbClr val="111418"/>
                        </a:buClr>
                        <a:buSzPts val="1200"/>
                        <a:buFont typeface="Calibri"/>
                        <a:buNone/>
                      </a:pPr>
                      <a:r>
                        <a:rPr b="1" lang="en-US" sz="1200" u="none" cap="none" strike="noStrike">
                          <a:solidFill>
                            <a:srgbClr val="111418"/>
                          </a:solidFill>
                        </a:rPr>
                        <a:t>192.168.250.1/30 ↔ 192.168.250.2/30</a:t>
                      </a:r>
                      <a:endParaRPr b="1"/>
                    </a:p>
                  </a:txBody>
                  <a:tcPr marT="38100" marB="38100" marR="57150" marL="57150" anchor="ctr">
                    <a:solidFill>
                      <a:srgbClr val="FFFFFF"/>
                    </a:solidFill>
                  </a:tcPr>
                </a:tc>
                <a:tc>
                  <a:txBody>
                    <a:bodyPr/>
                    <a:lstStyle/>
                    <a:p>
                      <a:pPr indent="0" lvl="0" marL="0" marR="0" rtl="0" algn="ctr">
                        <a:spcBef>
                          <a:spcPts val="0"/>
                        </a:spcBef>
                        <a:spcAft>
                          <a:spcPts val="0"/>
                        </a:spcAft>
                        <a:buClr>
                          <a:srgbClr val="111418"/>
                        </a:buClr>
                        <a:buSzPts val="1200"/>
                        <a:buFont typeface="Calibri"/>
                        <a:buNone/>
                      </a:pPr>
                      <a:r>
                        <a:rPr b="1" lang="en-US" sz="1200" u="none" cap="none" strike="noStrike">
                          <a:solidFill>
                            <a:srgbClr val="111418"/>
                          </a:solidFill>
                        </a:rPr>
                        <a:t>Host-to-host IPv4; no NAT or default-route change</a:t>
                      </a:r>
                      <a:endParaRPr b="1"/>
                    </a:p>
                  </a:txBody>
                  <a:tcPr marT="38100" marB="38100" marR="57150" marL="57150" anchor="ctr">
                    <a:solidFill>
                      <a:srgbClr val="FFFFFF"/>
                    </a:solidFill>
                  </a:tcPr>
                </a:tc>
              </a:tr>
              <a:tr h="533400">
                <a:tc>
                  <a:txBody>
                    <a:bodyPr/>
                    <a:lstStyle/>
                    <a:p>
                      <a:pPr indent="0" lvl="0" marL="0" marR="0" rtl="0" algn="l">
                        <a:spcBef>
                          <a:spcPts val="0"/>
                        </a:spcBef>
                        <a:spcAft>
                          <a:spcPts val="0"/>
                        </a:spcAft>
                        <a:buClr>
                          <a:srgbClr val="111418"/>
                        </a:buClr>
                        <a:buSzPts val="1200"/>
                        <a:buFont typeface="Calibri"/>
                        <a:buNone/>
                      </a:pPr>
                      <a:r>
                        <a:rPr b="1" lang="en-US" sz="1200" u="none" cap="none" strike="noStrike">
                          <a:solidFill>
                            <a:srgbClr val="111418"/>
                          </a:solidFill>
                        </a:rPr>
                        <a:t>Outer network</a:t>
                      </a:r>
                      <a:endParaRPr/>
                    </a:p>
                  </a:txBody>
                  <a:tcPr marT="38100" marB="38100" marR="57150" marL="76200" anchor="ctr">
                    <a:solidFill>
                      <a:srgbClr val="F0F2F4"/>
                    </a:solidFill>
                  </a:tcPr>
                </a:tc>
                <a:tc>
                  <a:txBody>
                    <a:bodyPr/>
                    <a:lstStyle/>
                    <a:p>
                      <a:pPr indent="0" lvl="0" marL="0" marR="0" rtl="0" algn="ctr">
                        <a:spcBef>
                          <a:spcPts val="0"/>
                        </a:spcBef>
                        <a:spcAft>
                          <a:spcPts val="0"/>
                        </a:spcAft>
                        <a:buClr>
                          <a:srgbClr val="111418"/>
                        </a:buClr>
                        <a:buSzPts val="1200"/>
                        <a:buFont typeface="Calibri"/>
                        <a:buNone/>
                      </a:pPr>
                      <a:r>
                        <a:rPr b="1" lang="en-US" sz="1200" u="none" cap="none" strike="noStrike">
                          <a:solidFill>
                            <a:srgbClr val="111418"/>
                          </a:solidFill>
                        </a:rPr>
                        <a:t>10.7.51.1 ↔ 10.7.50.242 over Wi-Fi</a:t>
                      </a:r>
                      <a:endParaRPr b="1"/>
                    </a:p>
                  </a:txBody>
                  <a:tcPr marT="38100" marB="38100" marR="57150" marL="57150" anchor="ctr">
                    <a:solidFill>
                      <a:srgbClr val="FFFFFF"/>
                    </a:solidFill>
                  </a:tcPr>
                </a:tc>
                <a:tc>
                  <a:txBody>
                    <a:bodyPr/>
                    <a:lstStyle/>
                    <a:p>
                      <a:pPr indent="0" lvl="0" marL="0" marR="0" rtl="0" algn="ctr">
                        <a:spcBef>
                          <a:spcPts val="0"/>
                        </a:spcBef>
                        <a:spcAft>
                          <a:spcPts val="0"/>
                        </a:spcAft>
                        <a:buClr>
                          <a:srgbClr val="111418"/>
                        </a:buClr>
                        <a:buSzPts val="1200"/>
                        <a:buFont typeface="Calibri"/>
                        <a:buNone/>
                      </a:pPr>
                      <a:r>
                        <a:rPr b="1" lang="en-US" sz="1200" u="none" cap="none" strike="noStrike">
                          <a:solidFill>
                            <a:srgbClr val="111418"/>
                          </a:solidFill>
                        </a:rPr>
                        <a:t>Outer endpoints, sizes, timing and direction remain visible</a:t>
                      </a:r>
                      <a:endParaRPr b="1"/>
                    </a:p>
                  </a:txBody>
                  <a:tcPr marT="38100" marB="38100" marR="57150" marL="57150" anchor="ctr">
                    <a:solidFill>
                      <a:srgbClr val="FFFFFF"/>
                    </a:solidFill>
                  </a:tcPr>
                </a:tc>
              </a:tr>
              <a:tr h="533400">
                <a:tc>
                  <a:txBody>
                    <a:bodyPr/>
                    <a:lstStyle/>
                    <a:p>
                      <a:pPr indent="0" lvl="0" marL="0" marR="0" rtl="0" algn="l">
                        <a:spcBef>
                          <a:spcPts val="0"/>
                        </a:spcBef>
                        <a:spcAft>
                          <a:spcPts val="0"/>
                        </a:spcAft>
                        <a:buClr>
                          <a:srgbClr val="111418"/>
                        </a:buClr>
                        <a:buSzPts val="1200"/>
                        <a:buFont typeface="Calibri"/>
                        <a:buNone/>
                      </a:pPr>
                      <a:r>
                        <a:rPr b="1" lang="en-US" sz="1200" u="none" cap="none" strike="noStrike">
                          <a:solidFill>
                            <a:srgbClr val="111418"/>
                          </a:solidFill>
                        </a:rPr>
                        <a:t>Virtual interface</a:t>
                      </a:r>
                      <a:endParaRPr/>
                    </a:p>
                  </a:txBody>
                  <a:tcPr marT="38100" marB="38100" marR="57150" marL="76200" anchor="ctr">
                    <a:solidFill>
                      <a:srgbClr val="F0F2F4"/>
                    </a:solidFill>
                  </a:tcPr>
                </a:tc>
                <a:tc>
                  <a:txBody>
                    <a:bodyPr/>
                    <a:lstStyle/>
                    <a:p>
                      <a:pPr indent="0" lvl="0" marL="0" marR="0" rtl="0" algn="ctr">
                        <a:spcBef>
                          <a:spcPts val="0"/>
                        </a:spcBef>
                        <a:spcAft>
                          <a:spcPts val="0"/>
                        </a:spcAft>
                        <a:buClr>
                          <a:srgbClr val="111418"/>
                        </a:buClr>
                        <a:buSzPts val="1200"/>
                        <a:buFont typeface="Calibri"/>
                        <a:buNone/>
                      </a:pPr>
                      <a:r>
                        <a:rPr b="1" lang="en-US" sz="1200" u="none" cap="none" strike="noStrike">
                          <a:solidFill>
                            <a:srgbClr val="111418"/>
                          </a:solidFill>
                        </a:rPr>
                        <a:t>tun0 · IFF_TUN | IFF_NO_PI</a:t>
                      </a:r>
                      <a:endParaRPr b="1"/>
                    </a:p>
                  </a:txBody>
                  <a:tcPr marT="38100" marB="38100" marR="57150" marL="57150" anchor="ctr">
                    <a:solidFill>
                      <a:srgbClr val="FFFFFF"/>
                    </a:solidFill>
                  </a:tcPr>
                </a:tc>
                <a:tc>
                  <a:txBody>
                    <a:bodyPr/>
                    <a:lstStyle/>
                    <a:p>
                      <a:pPr indent="0" lvl="0" marL="0" marR="0" rtl="0" algn="ctr">
                        <a:spcBef>
                          <a:spcPts val="0"/>
                        </a:spcBef>
                        <a:spcAft>
                          <a:spcPts val="0"/>
                        </a:spcAft>
                        <a:buClr>
                          <a:srgbClr val="111418"/>
                        </a:buClr>
                        <a:buSzPts val="1200"/>
                        <a:buFont typeface="Calibri"/>
                        <a:buNone/>
                      </a:pPr>
                      <a:r>
                        <a:rPr b="1" lang="en-US" sz="1200" u="none" cap="none" strike="noStrike">
                          <a:solidFill>
                            <a:srgbClr val="111418"/>
                          </a:solidFill>
                        </a:rPr>
                        <a:t>Layer-3 packets only; no Ethernet header, ARP or MAC state</a:t>
                      </a:r>
                      <a:endParaRPr b="1"/>
                    </a:p>
                  </a:txBody>
                  <a:tcPr marT="38100" marB="38100" marR="57150" marL="57150" anchor="ctr">
                    <a:solidFill>
                      <a:srgbClr val="FFFFFF"/>
                    </a:solidFill>
                  </a:tcPr>
                </a:tc>
              </a:tr>
              <a:tr h="533400">
                <a:tc>
                  <a:txBody>
                    <a:bodyPr/>
                    <a:lstStyle/>
                    <a:p>
                      <a:pPr indent="0" lvl="0" marL="0" marR="0" rtl="0" algn="l">
                        <a:spcBef>
                          <a:spcPts val="0"/>
                        </a:spcBef>
                        <a:spcAft>
                          <a:spcPts val="0"/>
                        </a:spcAft>
                        <a:buClr>
                          <a:srgbClr val="111418"/>
                        </a:buClr>
                        <a:buSzPts val="1200"/>
                        <a:buFont typeface="Calibri"/>
                        <a:buNone/>
                      </a:pPr>
                      <a:r>
                        <a:rPr b="1" lang="en-US" sz="1200" u="none" cap="none" strike="noStrike">
                          <a:solidFill>
                            <a:srgbClr val="111418"/>
                          </a:solidFill>
                        </a:rPr>
                        <a:t>Transport</a:t>
                      </a:r>
                      <a:endParaRPr/>
                    </a:p>
                  </a:txBody>
                  <a:tcPr marT="38100" marB="38100" marR="57150" marL="76200" anchor="ctr">
                    <a:solidFill>
                      <a:srgbClr val="F0F2F4"/>
                    </a:solidFill>
                  </a:tcPr>
                </a:tc>
                <a:tc>
                  <a:txBody>
                    <a:bodyPr/>
                    <a:lstStyle/>
                    <a:p>
                      <a:pPr indent="0" lvl="0" marL="0" marR="0" rtl="0" algn="ctr">
                        <a:spcBef>
                          <a:spcPts val="0"/>
                        </a:spcBef>
                        <a:spcAft>
                          <a:spcPts val="0"/>
                        </a:spcAft>
                        <a:buClr>
                          <a:srgbClr val="111418"/>
                        </a:buClr>
                        <a:buSzPts val="1200"/>
                        <a:buFont typeface="Calibri"/>
                        <a:buNone/>
                      </a:pPr>
                      <a:r>
                        <a:rPr b="1" lang="en-US" sz="1200" u="none" cap="none" strike="noStrike">
                          <a:solidFill>
                            <a:srgbClr val="111418"/>
                          </a:solidFill>
                        </a:rPr>
                        <a:t>UDP/55555</a:t>
                      </a:r>
                      <a:endParaRPr b="1"/>
                    </a:p>
                  </a:txBody>
                  <a:tcPr marT="38100" marB="38100" marR="57150" marL="57150" anchor="ctr">
                    <a:solidFill>
                      <a:srgbClr val="FFFFFF"/>
                    </a:solidFill>
                  </a:tcPr>
                </a:tc>
                <a:tc>
                  <a:txBody>
                    <a:bodyPr/>
                    <a:lstStyle/>
                    <a:p>
                      <a:pPr indent="0" lvl="0" marL="0" marR="0" rtl="0" algn="ctr">
                        <a:spcBef>
                          <a:spcPts val="0"/>
                        </a:spcBef>
                        <a:spcAft>
                          <a:spcPts val="0"/>
                        </a:spcAft>
                        <a:buClr>
                          <a:srgbClr val="111418"/>
                        </a:buClr>
                        <a:buSzPts val="1200"/>
                        <a:buFont typeface="Calibri"/>
                        <a:buNone/>
                      </a:pPr>
                      <a:r>
                        <a:rPr b="1" lang="en-US" sz="1200" u="none" cap="none" strike="noStrike">
                          <a:solidFill>
                            <a:srgbClr val="111418"/>
                          </a:solidFill>
                        </a:rPr>
                        <a:t>One inner packet per datagram; avoids TCP-over-TCP</a:t>
                      </a:r>
                      <a:endParaRPr b="1"/>
                    </a:p>
                  </a:txBody>
                  <a:tcPr marT="38100" marB="38100" marR="57150" marL="57150" anchor="ctr">
                    <a:solidFill>
                      <a:srgbClr val="FFFFFF"/>
                    </a:solidFill>
                  </a:tcPr>
                </a:tc>
              </a:tr>
              <a:tr h="533400">
                <a:tc>
                  <a:txBody>
                    <a:bodyPr/>
                    <a:lstStyle/>
                    <a:p>
                      <a:pPr indent="0" lvl="0" marL="0" marR="0" rtl="0" algn="l">
                        <a:spcBef>
                          <a:spcPts val="0"/>
                        </a:spcBef>
                        <a:spcAft>
                          <a:spcPts val="0"/>
                        </a:spcAft>
                        <a:buClr>
                          <a:srgbClr val="111418"/>
                        </a:buClr>
                        <a:buSzPts val="1200"/>
                        <a:buFont typeface="Calibri"/>
                        <a:buNone/>
                      </a:pPr>
                      <a:r>
                        <a:rPr b="1" lang="en-US" sz="1200" u="none" cap="none" strike="noStrike">
                          <a:solidFill>
                            <a:srgbClr val="111418"/>
                          </a:solidFill>
                        </a:rPr>
                        <a:t>TUN MTU</a:t>
                      </a:r>
                      <a:endParaRPr/>
                    </a:p>
                  </a:txBody>
                  <a:tcPr marT="38100" marB="38100" marR="57150" marL="76200" anchor="ctr">
                    <a:solidFill>
                      <a:srgbClr val="F0F2F4"/>
                    </a:solidFill>
                  </a:tcPr>
                </a:tc>
                <a:tc>
                  <a:txBody>
                    <a:bodyPr/>
                    <a:lstStyle/>
                    <a:p>
                      <a:pPr indent="0" lvl="0" marL="0" marR="0" rtl="0" algn="ctr">
                        <a:spcBef>
                          <a:spcPts val="0"/>
                        </a:spcBef>
                        <a:spcAft>
                          <a:spcPts val="0"/>
                        </a:spcAft>
                        <a:buClr>
                          <a:srgbClr val="111418"/>
                        </a:buClr>
                        <a:buSzPts val="1200"/>
                        <a:buFont typeface="Calibri"/>
                        <a:buNone/>
                      </a:pPr>
                      <a:r>
                        <a:rPr b="1" lang="en-US" sz="1200" u="none" cap="none" strike="noStrike">
                          <a:solidFill>
                            <a:srgbClr val="111418"/>
                          </a:solidFill>
                        </a:rPr>
                        <a:t>1400 bytes</a:t>
                      </a:r>
                      <a:endParaRPr b="1"/>
                    </a:p>
                  </a:txBody>
                  <a:tcPr marT="38100" marB="38100" marR="57150" marL="57150" anchor="ctr">
                    <a:solidFill>
                      <a:srgbClr val="FFFFFF"/>
                    </a:solidFill>
                  </a:tcPr>
                </a:tc>
                <a:tc>
                  <a:txBody>
                    <a:bodyPr/>
                    <a:lstStyle/>
                    <a:p>
                      <a:pPr indent="0" lvl="0" marL="0" marR="0" rtl="0" algn="ctr">
                        <a:spcBef>
                          <a:spcPts val="0"/>
                        </a:spcBef>
                        <a:spcAft>
                          <a:spcPts val="0"/>
                        </a:spcAft>
                        <a:buClr>
                          <a:srgbClr val="111418"/>
                        </a:buClr>
                        <a:buSzPts val="1200"/>
                        <a:buFont typeface="Calibri"/>
                        <a:buNone/>
                      </a:pPr>
                      <a:r>
                        <a:rPr b="1" lang="en-US" sz="1200" u="none" cap="none" strike="noStrike">
                          <a:solidFill>
                            <a:srgbClr val="111418"/>
                          </a:solidFill>
                        </a:rPr>
                        <a:t>Encrypted outer IPv4 packet is at most 1472 bytes</a:t>
                      </a:r>
                      <a:endParaRPr b="1"/>
                    </a:p>
                  </a:txBody>
                  <a:tcPr marT="38100" marB="38100" marR="57150" marL="57150" anchor="ctr">
                    <a:solidFill>
                      <a:srgbClr val="FFFFFF"/>
                    </a:solidFill>
                  </a:tcPr>
                </a:tc>
              </a:tr>
              <a:tr h="533400">
                <a:tc>
                  <a:txBody>
                    <a:bodyPr/>
                    <a:lstStyle/>
                    <a:p>
                      <a:pPr indent="0" lvl="0" marL="0" marR="0" rtl="0" algn="l">
                        <a:spcBef>
                          <a:spcPts val="0"/>
                        </a:spcBef>
                        <a:spcAft>
                          <a:spcPts val="0"/>
                        </a:spcAft>
                        <a:buClr>
                          <a:srgbClr val="111418"/>
                        </a:buClr>
                        <a:buSzPts val="1200"/>
                        <a:buFont typeface="Calibri"/>
                        <a:buNone/>
                      </a:pPr>
                      <a:r>
                        <a:rPr b="1" lang="en-US" sz="1200" u="none" cap="none" strike="noStrike">
                          <a:solidFill>
                            <a:srgbClr val="111418"/>
                          </a:solidFill>
                        </a:rPr>
                        <a:t>Modes</a:t>
                      </a:r>
                      <a:endParaRPr/>
                    </a:p>
                  </a:txBody>
                  <a:tcPr marT="38100" marB="38100" marR="57150" marL="76200" anchor="ctr">
                    <a:solidFill>
                      <a:srgbClr val="F0F2F4"/>
                    </a:solidFill>
                  </a:tcPr>
                </a:tc>
                <a:tc>
                  <a:txBody>
                    <a:bodyPr/>
                    <a:lstStyle/>
                    <a:p>
                      <a:pPr indent="0" lvl="0" marL="0" marR="0" rtl="0" algn="ctr">
                        <a:spcBef>
                          <a:spcPts val="0"/>
                        </a:spcBef>
                        <a:spcAft>
                          <a:spcPts val="0"/>
                        </a:spcAft>
                        <a:buClr>
                          <a:srgbClr val="111418"/>
                        </a:buClr>
                        <a:buSzPts val="1200"/>
                        <a:buFont typeface="Calibri"/>
                        <a:buNone/>
                      </a:pPr>
                      <a:r>
                        <a:rPr b="1" lang="en-US" sz="1200" u="none" cap="none" strike="noStrike">
                          <a:solidFill>
                            <a:srgbClr val="111418"/>
                          </a:solidFill>
                        </a:rPr>
                        <a:t>plaintext / encrypted</a:t>
                      </a:r>
                      <a:endParaRPr b="1"/>
                    </a:p>
                  </a:txBody>
                  <a:tcPr marT="38100" marB="38100" marR="57150" marL="57150" anchor="ctr">
                    <a:solidFill>
                      <a:srgbClr val="FFFFFF"/>
                    </a:solidFill>
                  </a:tcPr>
                </a:tc>
                <a:tc>
                  <a:txBody>
                    <a:bodyPr/>
                    <a:lstStyle/>
                    <a:p>
                      <a:pPr indent="0" lvl="0" marL="0" marR="0" rtl="0" algn="ctr">
                        <a:spcBef>
                          <a:spcPts val="0"/>
                        </a:spcBef>
                        <a:spcAft>
                          <a:spcPts val="0"/>
                        </a:spcAft>
                        <a:buClr>
                          <a:srgbClr val="111418"/>
                        </a:buClr>
                        <a:buSzPts val="1200"/>
                        <a:buFont typeface="Calibri"/>
                        <a:buNone/>
                      </a:pPr>
                      <a:r>
                        <a:rPr b="1" lang="en-US" sz="1200" u="none" cap="none" strike="noStrike">
                          <a:solidFill>
                            <a:srgbClr val="111418"/>
                          </a:solidFill>
                        </a:rPr>
                        <a:t>Separates tunnel cost from incremental cryptographic cost</a:t>
                      </a:r>
                      <a:endParaRPr b="1"/>
                    </a:p>
                  </a:txBody>
                  <a:tcPr marT="38100" marB="38100" marR="57150" marL="57150" anchor="ctr">
                    <a:solidFill>
                      <a:srgbClr val="FFFFFF"/>
                    </a:solidFill>
                  </a:tcPr>
                </a:tc>
              </a:tr>
              <a:tr h="533400">
                <a:tc>
                  <a:txBody>
                    <a:bodyPr/>
                    <a:lstStyle/>
                    <a:p>
                      <a:pPr indent="0" lvl="0" marL="0" marR="0" rtl="0" algn="l">
                        <a:spcBef>
                          <a:spcPts val="0"/>
                        </a:spcBef>
                        <a:spcAft>
                          <a:spcPts val="0"/>
                        </a:spcAft>
                        <a:buClr>
                          <a:srgbClr val="111418"/>
                        </a:buClr>
                        <a:buSzPts val="1200"/>
                        <a:buFont typeface="Calibri"/>
                        <a:buNone/>
                      </a:pPr>
                      <a:r>
                        <a:rPr b="1" lang="en-US" sz="1200" u="none" cap="none" strike="noStrike">
                          <a:solidFill>
                            <a:srgbClr val="111418"/>
                          </a:solidFill>
                        </a:rPr>
                        <a:t>Cryptography</a:t>
                      </a:r>
                      <a:endParaRPr/>
                    </a:p>
                  </a:txBody>
                  <a:tcPr marT="38100" marB="38100" marR="57150" marL="76200" anchor="ctr">
                    <a:solidFill>
                      <a:srgbClr val="F0F2F4"/>
                    </a:solidFill>
                  </a:tcPr>
                </a:tc>
                <a:tc>
                  <a:txBody>
                    <a:bodyPr/>
                    <a:lstStyle/>
                    <a:p>
                      <a:pPr indent="0" lvl="0" marL="0" marR="0" rtl="0" algn="ctr">
                        <a:spcBef>
                          <a:spcPts val="0"/>
                        </a:spcBef>
                        <a:spcAft>
                          <a:spcPts val="0"/>
                        </a:spcAft>
                        <a:buClr>
                          <a:srgbClr val="111418"/>
                        </a:buClr>
                        <a:buSzPts val="1200"/>
                        <a:buFont typeface="Calibri"/>
                        <a:buNone/>
                      </a:pPr>
                      <a:r>
                        <a:rPr b="1" lang="en-US" sz="1200" u="none" cap="none" strike="noStrike">
                          <a:solidFill>
                            <a:srgbClr val="111418"/>
                          </a:solidFill>
                        </a:rPr>
                        <a:t>Ed25519 + crypto_kx + ChaCha20-Poly1305</a:t>
                      </a:r>
                      <a:endParaRPr b="1"/>
                    </a:p>
                  </a:txBody>
                  <a:tcPr marT="38100" marB="38100" marR="57150" marL="57150" anchor="ctr">
                    <a:solidFill>
                      <a:srgbClr val="FFFFFF"/>
                    </a:solidFill>
                  </a:tcPr>
                </a:tc>
                <a:tc>
                  <a:txBody>
                    <a:bodyPr/>
                    <a:lstStyle/>
                    <a:p>
                      <a:pPr indent="0" lvl="0" marL="0" marR="0" rtl="0" algn="ctr">
                        <a:spcBef>
                          <a:spcPts val="0"/>
                        </a:spcBef>
                        <a:spcAft>
                          <a:spcPts val="0"/>
                        </a:spcAft>
                        <a:buClr>
                          <a:srgbClr val="111418"/>
                        </a:buClr>
                        <a:buSzPts val="1200"/>
                        <a:buFont typeface="Calibri"/>
                        <a:buNone/>
                      </a:pPr>
                      <a:r>
                        <a:rPr b="1" lang="en-US" sz="1200" u="none" cap="none" strike="noStrike">
                          <a:solidFill>
                            <a:srgbClr val="111418"/>
                          </a:solidFill>
                        </a:rPr>
                        <a:t>Pinned identity, fresh session keys, AEAD per DATA packet</a:t>
                      </a:r>
                      <a:endParaRPr b="1"/>
                    </a:p>
                  </a:txBody>
                  <a:tcPr marT="38100" marB="38100" marR="57150" marL="57150" anchor="ctr">
                    <a:solidFill>
                      <a:srgbClr val="FFFFFF"/>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 name="Shape 49"/>
        <p:cNvGrpSpPr/>
        <p:nvPr/>
      </p:nvGrpSpPr>
      <p:grpSpPr>
        <a:xfrm>
          <a:off x="0" y="0"/>
          <a:ext cx="0" cy="0"/>
          <a:chOff x="0" y="0"/>
          <a:chExt cx="0" cy="0"/>
        </a:xfrm>
      </p:grpSpPr>
      <p:sp>
        <p:nvSpPr>
          <p:cNvPr id="50" name="Google Shape;50;p5"/>
          <p:cNvSpPr/>
          <p:nvPr/>
        </p:nvSpPr>
        <p:spPr>
          <a:xfrm>
            <a:off x="457200" y="171450"/>
            <a:ext cx="4762500" cy="209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D8DFF"/>
              </a:buClr>
              <a:buSzPts val="1050"/>
              <a:buFont typeface="Arial"/>
              <a:buNone/>
            </a:pPr>
            <a:r>
              <a:rPr b="1" lang="en-US" sz="1050">
                <a:solidFill>
                  <a:srgbClr val="3D8DFF"/>
                </a:solidFill>
              </a:rPr>
              <a:t> IMPLEMENTATION</a:t>
            </a:r>
            <a:endParaRPr/>
          </a:p>
        </p:txBody>
      </p:sp>
      <p:sp>
        <p:nvSpPr>
          <p:cNvPr id="51" name="Google Shape;51;p5"/>
          <p:cNvSpPr/>
          <p:nvPr/>
        </p:nvSpPr>
        <p:spPr>
          <a:xfrm>
            <a:off x="476250" y="581025"/>
            <a:ext cx="112395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11418"/>
              </a:buClr>
              <a:buSzPts val="2625"/>
              <a:buFont typeface="Arial"/>
              <a:buNone/>
            </a:pPr>
            <a:r>
              <a:rPr b="1" lang="en-US" sz="2625">
                <a:solidFill>
                  <a:srgbClr val="111418"/>
                </a:solidFill>
              </a:rPr>
              <a:t>System architecture </a:t>
            </a:r>
            <a:endParaRPr/>
          </a:p>
        </p:txBody>
      </p:sp>
      <p:cxnSp>
        <p:nvCxnSpPr>
          <p:cNvPr id="52" name="Google Shape;52;p5"/>
          <p:cNvCxnSpPr/>
          <p:nvPr/>
        </p:nvCxnSpPr>
        <p:spPr>
          <a:xfrm>
            <a:off x="457200" y="1257300"/>
            <a:ext cx="11277600" cy="0"/>
          </a:xfrm>
          <a:prstGeom prst="straightConnector1">
            <a:avLst/>
          </a:prstGeom>
          <a:noFill/>
          <a:ln cap="flat" cmpd="sng" w="9525">
            <a:solidFill>
              <a:srgbClr val="B8BCC4"/>
            </a:solidFill>
            <a:prstDash val="solid"/>
            <a:round/>
            <a:headEnd len="sm" w="sm" type="none"/>
            <a:tailEnd len="sm" w="sm" type="none"/>
          </a:ln>
        </p:spPr>
      </p:cxnSp>
      <p:sp>
        <p:nvSpPr>
          <p:cNvPr id="53" name="Google Shape;53;p5"/>
          <p:cNvSpPr/>
          <p:nvPr/>
        </p:nvSpPr>
        <p:spPr>
          <a:xfrm>
            <a:off x="11001375" y="6429375"/>
            <a:ext cx="733425" cy="1714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5E6672"/>
              </a:buClr>
              <a:buSzPts val="900"/>
              <a:buFont typeface="Arial"/>
              <a:buNone/>
            </a:pPr>
            <a:r>
              <a:rPr b="0" lang="en-US" sz="900">
                <a:solidFill>
                  <a:srgbClr val="5E6672"/>
                </a:solidFill>
              </a:rPr>
              <a:t>· 03</a:t>
            </a:r>
            <a:endParaRPr/>
          </a:p>
        </p:txBody>
      </p:sp>
      <p:sp>
        <p:nvSpPr>
          <p:cNvPr id="54" name="Google Shape;54;p5"/>
          <p:cNvSpPr/>
          <p:nvPr/>
        </p:nvSpPr>
        <p:spPr>
          <a:xfrm>
            <a:off x="476250" y="1428750"/>
            <a:ext cx="4857750" cy="4648200"/>
          </a:xfrm>
          <a:prstGeom prst="roundRect">
            <a:avLst>
              <a:gd fmla="val 1639" name="adj"/>
            </a:avLst>
          </a:prstGeom>
          <a:solidFill>
            <a:srgbClr val="F7F8F9"/>
          </a:solidFill>
          <a:ln cap="flat" cmpd="sng" w="9525">
            <a:solidFill>
              <a:srgbClr val="B8BC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5"/>
          <p:cNvSpPr/>
          <p:nvPr/>
        </p:nvSpPr>
        <p:spPr>
          <a:xfrm>
            <a:off x="6858000" y="1428750"/>
            <a:ext cx="4857750" cy="4648200"/>
          </a:xfrm>
          <a:prstGeom prst="roundRect">
            <a:avLst>
              <a:gd fmla="val 1639" name="adj"/>
            </a:avLst>
          </a:prstGeom>
          <a:solidFill>
            <a:srgbClr val="F7F8F9"/>
          </a:solidFill>
          <a:ln cap="flat" cmpd="sng" w="9525">
            <a:solidFill>
              <a:srgbClr val="B8BC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5"/>
          <p:cNvSpPr/>
          <p:nvPr/>
        </p:nvSpPr>
        <p:spPr>
          <a:xfrm>
            <a:off x="5543550" y="1428750"/>
            <a:ext cx="1104900" cy="4648200"/>
          </a:xfrm>
          <a:prstGeom prst="roundRect">
            <a:avLst>
              <a:gd fmla="val 6897" name="adj"/>
            </a:avLst>
          </a:prstGeom>
          <a:solidFill>
            <a:srgbClr val="16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5"/>
          <p:cNvSpPr/>
          <p:nvPr/>
        </p:nvSpPr>
        <p:spPr>
          <a:xfrm>
            <a:off x="2828925" y="2400300"/>
            <a:ext cx="133350" cy="171450"/>
          </a:xfrm>
          <a:prstGeom prst="downArrow">
            <a:avLst>
              <a:gd fmla="val 50000" name="adj1"/>
              <a:gd fmla="val 50000" name="adj2"/>
            </a:avLst>
          </a:prstGeom>
          <a:solidFill>
            <a:srgbClr val="B8BCC4"/>
          </a:solidFill>
          <a:ln cap="flat" cmpd="sng" w="9525">
            <a:solidFill>
              <a:srgbClr val="B8BC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2828925" y="3086100"/>
            <a:ext cx="133350" cy="171450"/>
          </a:xfrm>
          <a:prstGeom prst="downArrow">
            <a:avLst>
              <a:gd fmla="val 50000" name="adj1"/>
              <a:gd fmla="val 50000" name="adj2"/>
            </a:avLst>
          </a:prstGeom>
          <a:solidFill>
            <a:srgbClr val="B8BCC4"/>
          </a:solidFill>
          <a:ln cap="flat" cmpd="sng" w="9525">
            <a:solidFill>
              <a:srgbClr val="B8BC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828925" y="3771900"/>
            <a:ext cx="133350" cy="171450"/>
          </a:xfrm>
          <a:prstGeom prst="downArrow">
            <a:avLst>
              <a:gd fmla="val 50000" name="adj1"/>
              <a:gd fmla="val 50000" name="adj2"/>
            </a:avLst>
          </a:prstGeom>
          <a:solidFill>
            <a:srgbClr val="B8BCC4"/>
          </a:solidFill>
          <a:ln cap="flat" cmpd="sng" w="9525">
            <a:solidFill>
              <a:srgbClr val="B8BC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p:nvPr/>
        </p:nvSpPr>
        <p:spPr>
          <a:xfrm>
            <a:off x="2828925" y="4895850"/>
            <a:ext cx="133350" cy="171450"/>
          </a:xfrm>
          <a:prstGeom prst="downArrow">
            <a:avLst>
              <a:gd fmla="val 50000" name="adj1"/>
              <a:gd fmla="val 50000" name="adj2"/>
            </a:avLst>
          </a:prstGeom>
          <a:solidFill>
            <a:srgbClr val="B8BCC4"/>
          </a:solidFill>
          <a:ln cap="flat" cmpd="sng" w="9525">
            <a:solidFill>
              <a:srgbClr val="B8BC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5"/>
          <p:cNvSpPr/>
          <p:nvPr/>
        </p:nvSpPr>
        <p:spPr>
          <a:xfrm>
            <a:off x="2828925" y="5524500"/>
            <a:ext cx="133350" cy="171450"/>
          </a:xfrm>
          <a:prstGeom prst="downArrow">
            <a:avLst>
              <a:gd fmla="val 50000" name="adj1"/>
              <a:gd fmla="val 50000" name="adj2"/>
            </a:avLst>
          </a:prstGeom>
          <a:solidFill>
            <a:srgbClr val="B8BCC4"/>
          </a:solidFill>
          <a:ln cap="flat" cmpd="sng" w="9525">
            <a:solidFill>
              <a:srgbClr val="B8BC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5"/>
          <p:cNvSpPr/>
          <p:nvPr/>
        </p:nvSpPr>
        <p:spPr>
          <a:xfrm>
            <a:off x="9229725" y="2400300"/>
            <a:ext cx="133350" cy="171450"/>
          </a:xfrm>
          <a:prstGeom prst="upArrow">
            <a:avLst>
              <a:gd fmla="val 50000" name="adj1"/>
              <a:gd fmla="val 50000" name="adj2"/>
            </a:avLst>
          </a:prstGeom>
          <a:solidFill>
            <a:srgbClr val="B8BCC4"/>
          </a:solidFill>
          <a:ln cap="flat" cmpd="sng" w="9525">
            <a:solidFill>
              <a:srgbClr val="B8BC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5"/>
          <p:cNvSpPr/>
          <p:nvPr/>
        </p:nvSpPr>
        <p:spPr>
          <a:xfrm>
            <a:off x="9229725" y="3086100"/>
            <a:ext cx="133350" cy="171450"/>
          </a:xfrm>
          <a:prstGeom prst="upArrow">
            <a:avLst>
              <a:gd fmla="val 50000" name="adj1"/>
              <a:gd fmla="val 50000" name="adj2"/>
            </a:avLst>
          </a:prstGeom>
          <a:solidFill>
            <a:srgbClr val="B8BCC4"/>
          </a:solidFill>
          <a:ln cap="flat" cmpd="sng" w="9525">
            <a:solidFill>
              <a:srgbClr val="B8BC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5"/>
          <p:cNvSpPr/>
          <p:nvPr/>
        </p:nvSpPr>
        <p:spPr>
          <a:xfrm>
            <a:off x="9229725" y="3771900"/>
            <a:ext cx="133350" cy="171450"/>
          </a:xfrm>
          <a:prstGeom prst="upArrow">
            <a:avLst>
              <a:gd fmla="val 50000" name="adj1"/>
              <a:gd fmla="val 50000" name="adj2"/>
            </a:avLst>
          </a:prstGeom>
          <a:solidFill>
            <a:srgbClr val="B8BCC4"/>
          </a:solidFill>
          <a:ln cap="flat" cmpd="sng" w="9525">
            <a:solidFill>
              <a:srgbClr val="B8BC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5"/>
          <p:cNvSpPr/>
          <p:nvPr/>
        </p:nvSpPr>
        <p:spPr>
          <a:xfrm>
            <a:off x="9229725" y="4895850"/>
            <a:ext cx="133350" cy="171450"/>
          </a:xfrm>
          <a:prstGeom prst="upArrow">
            <a:avLst>
              <a:gd fmla="val 50000" name="adj1"/>
              <a:gd fmla="val 50000" name="adj2"/>
            </a:avLst>
          </a:prstGeom>
          <a:solidFill>
            <a:srgbClr val="B8BCC4"/>
          </a:solidFill>
          <a:ln cap="flat" cmpd="sng" w="9525">
            <a:solidFill>
              <a:srgbClr val="B8BC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5"/>
          <p:cNvSpPr/>
          <p:nvPr/>
        </p:nvSpPr>
        <p:spPr>
          <a:xfrm>
            <a:off x="9229725" y="5524500"/>
            <a:ext cx="133350" cy="171450"/>
          </a:xfrm>
          <a:prstGeom prst="upArrow">
            <a:avLst>
              <a:gd fmla="val 50000" name="adj1"/>
              <a:gd fmla="val 50000" name="adj2"/>
            </a:avLst>
          </a:prstGeom>
          <a:solidFill>
            <a:srgbClr val="B8BCC4"/>
          </a:solidFill>
          <a:ln cap="flat" cmpd="sng" w="9525">
            <a:solidFill>
              <a:srgbClr val="B8BC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5"/>
          <p:cNvSpPr/>
          <p:nvPr/>
        </p:nvSpPr>
        <p:spPr>
          <a:xfrm>
            <a:off x="4953000" y="5734050"/>
            <a:ext cx="2286000" cy="171450"/>
          </a:xfrm>
          <a:prstGeom prst="rightArrow">
            <a:avLst>
              <a:gd fmla="val 50000" name="adj1"/>
              <a:gd fmla="val 50000" name="adj2"/>
            </a:avLst>
          </a:prstGeom>
          <a:solidFill>
            <a:srgbClr val="3D8DFF"/>
          </a:solidFill>
          <a:ln cap="flat" cmpd="sng" w="9525">
            <a:solidFill>
              <a:srgbClr val="3D8D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5"/>
          <p:cNvSpPr/>
          <p:nvPr/>
        </p:nvSpPr>
        <p:spPr>
          <a:xfrm>
            <a:off x="5581650" y="3257550"/>
            <a:ext cx="1028700" cy="609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50"/>
              <a:buFont typeface="Arial"/>
              <a:buNone/>
            </a:pPr>
            <a:r>
              <a:rPr b="1" lang="en-US" sz="1050">
                <a:solidFill>
                  <a:srgbClr val="FFFFFF"/>
                </a:solidFill>
              </a:rPr>
              <a:t>UNTRUSTED</a:t>
            </a:r>
            <a:endParaRPr/>
          </a:p>
          <a:p>
            <a:pPr indent="0" lvl="0" marL="0" marR="0" rtl="0" algn="ctr">
              <a:spcBef>
                <a:spcPts val="0"/>
              </a:spcBef>
              <a:spcAft>
                <a:spcPts val="0"/>
              </a:spcAft>
              <a:buClr>
                <a:srgbClr val="FFFFFF"/>
              </a:buClr>
              <a:buSzPts val="1050"/>
              <a:buFont typeface="Arial"/>
              <a:buNone/>
            </a:pPr>
            <a:r>
              <a:rPr b="1" lang="en-US" sz="1050">
                <a:solidFill>
                  <a:srgbClr val="FFFFFF"/>
                </a:solidFill>
              </a:rPr>
              <a:t>WI-FI</a:t>
            </a:r>
            <a:endParaRPr/>
          </a:p>
        </p:txBody>
      </p:sp>
      <p:sp>
        <p:nvSpPr>
          <p:cNvPr id="69" name="Google Shape;69;p5"/>
          <p:cNvSpPr/>
          <p:nvPr/>
        </p:nvSpPr>
        <p:spPr>
          <a:xfrm>
            <a:off x="704850" y="1543050"/>
            <a:ext cx="238125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D8DFF"/>
              </a:buClr>
              <a:buSzPts val="1125"/>
              <a:buFont typeface="Arial"/>
              <a:buNone/>
            </a:pPr>
            <a:r>
              <a:rPr b="1" lang="en-US" sz="1125">
                <a:solidFill>
                  <a:srgbClr val="3D8DFF"/>
                </a:solidFill>
              </a:rPr>
              <a:t>PI A · CLIENT</a:t>
            </a:r>
            <a:endParaRPr/>
          </a:p>
        </p:txBody>
      </p:sp>
      <p:sp>
        <p:nvSpPr>
          <p:cNvPr id="70" name="Google Shape;70;p5"/>
          <p:cNvSpPr/>
          <p:nvPr/>
        </p:nvSpPr>
        <p:spPr>
          <a:xfrm>
            <a:off x="7086600" y="1543050"/>
            <a:ext cx="238125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6876F"/>
              </a:buClr>
              <a:buSzPts val="1125"/>
              <a:buFont typeface="Arial"/>
              <a:buNone/>
            </a:pPr>
            <a:r>
              <a:rPr b="1" lang="en-US" sz="1125">
                <a:solidFill>
                  <a:srgbClr val="16876F"/>
                </a:solidFill>
              </a:rPr>
              <a:t>PI B · SERVER</a:t>
            </a:r>
            <a:endParaRPr/>
          </a:p>
        </p:txBody>
      </p:sp>
      <p:sp>
        <p:nvSpPr>
          <p:cNvPr id="71" name="Google Shape;71;p5"/>
          <p:cNvSpPr/>
          <p:nvPr/>
        </p:nvSpPr>
        <p:spPr>
          <a:xfrm>
            <a:off x="819150" y="1866900"/>
            <a:ext cx="4171950" cy="552450"/>
          </a:xfrm>
          <a:prstGeom prst="roundRect">
            <a:avLst>
              <a:gd fmla="val 10345"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5"/>
          <p:cNvSpPr/>
          <p:nvPr/>
        </p:nvSpPr>
        <p:spPr>
          <a:xfrm>
            <a:off x="895350" y="1914525"/>
            <a:ext cx="401955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11418"/>
              </a:buClr>
              <a:buSzPts val="1350"/>
              <a:buFont typeface="Arial"/>
              <a:buNone/>
            </a:pPr>
            <a:r>
              <a:rPr b="1" lang="en-US" sz="1350">
                <a:solidFill>
                  <a:srgbClr val="111418"/>
                </a:solidFill>
              </a:rPr>
              <a:t>Applications</a:t>
            </a:r>
            <a:endParaRPr/>
          </a:p>
          <a:p>
            <a:pPr indent="0" lvl="0" marL="0" marR="0" rtl="0" algn="ctr">
              <a:spcBef>
                <a:spcPts val="0"/>
              </a:spcBef>
              <a:spcAft>
                <a:spcPts val="0"/>
              </a:spcAft>
              <a:buClr>
                <a:srgbClr val="111418"/>
              </a:buClr>
              <a:buSzPts val="1350"/>
              <a:buFont typeface="Arial"/>
              <a:buNone/>
            </a:pPr>
            <a:r>
              <a:rPr b="1" lang="en-US" sz="1350">
                <a:solidFill>
                  <a:srgbClr val="111418"/>
                </a:solidFill>
              </a:rPr>
              <a:t>ICMP · TCP · UDP</a:t>
            </a:r>
            <a:endParaRPr/>
          </a:p>
        </p:txBody>
      </p:sp>
      <p:sp>
        <p:nvSpPr>
          <p:cNvPr id="73" name="Google Shape;73;p5"/>
          <p:cNvSpPr/>
          <p:nvPr/>
        </p:nvSpPr>
        <p:spPr>
          <a:xfrm>
            <a:off x="819150" y="2552700"/>
            <a:ext cx="4171950" cy="552450"/>
          </a:xfrm>
          <a:prstGeom prst="roundRect">
            <a:avLst>
              <a:gd fmla="val 10345" name="adj"/>
            </a:avLst>
          </a:prstGeom>
          <a:solidFill>
            <a:srgbClr val="F0F2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5"/>
          <p:cNvSpPr/>
          <p:nvPr/>
        </p:nvSpPr>
        <p:spPr>
          <a:xfrm>
            <a:off x="895350" y="2600325"/>
            <a:ext cx="401955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11418"/>
              </a:buClr>
              <a:buSzPts val="1275"/>
              <a:buFont typeface="Arial"/>
              <a:buNone/>
            </a:pPr>
            <a:r>
              <a:rPr b="1" lang="en-US" sz="1275">
                <a:solidFill>
                  <a:srgbClr val="111418"/>
                </a:solidFill>
              </a:rPr>
              <a:t>Linux IPv4 routing</a:t>
            </a:r>
            <a:endParaRPr/>
          </a:p>
          <a:p>
            <a:pPr indent="0" lvl="0" marL="0" marR="0" rtl="0" algn="ctr">
              <a:spcBef>
                <a:spcPts val="0"/>
              </a:spcBef>
              <a:spcAft>
                <a:spcPts val="0"/>
              </a:spcAft>
              <a:buClr>
                <a:srgbClr val="111418"/>
              </a:buClr>
              <a:buSzPts val="1275"/>
              <a:buFont typeface="Arial"/>
              <a:buNone/>
            </a:pPr>
            <a:r>
              <a:rPr b="1" lang="en-US" sz="1275">
                <a:solidFill>
                  <a:srgbClr val="111418"/>
                </a:solidFill>
              </a:rPr>
              <a:t>dst 192.168.250.2 → tun0</a:t>
            </a:r>
            <a:endParaRPr/>
          </a:p>
        </p:txBody>
      </p:sp>
      <p:sp>
        <p:nvSpPr>
          <p:cNvPr id="75" name="Google Shape;75;p5"/>
          <p:cNvSpPr/>
          <p:nvPr/>
        </p:nvSpPr>
        <p:spPr>
          <a:xfrm>
            <a:off x="819150" y="3238500"/>
            <a:ext cx="4171950" cy="552450"/>
          </a:xfrm>
          <a:prstGeom prst="roundRect">
            <a:avLst>
              <a:gd fmla="val 10345" name="adj"/>
            </a:avLst>
          </a:prstGeom>
          <a:solidFill>
            <a:srgbClr val="DD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5"/>
          <p:cNvSpPr/>
          <p:nvPr/>
        </p:nvSpPr>
        <p:spPr>
          <a:xfrm>
            <a:off x="895350" y="3286125"/>
            <a:ext cx="401955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11418"/>
              </a:buClr>
              <a:buSzPts val="1350"/>
              <a:buFont typeface="Arial"/>
              <a:buNone/>
            </a:pPr>
            <a:r>
              <a:rPr b="1" lang="en-US" sz="1350">
                <a:solidFill>
                  <a:srgbClr val="111418"/>
                </a:solidFill>
              </a:rPr>
              <a:t>tun0 · 192.168.250.1/30 · MTU 1400</a:t>
            </a:r>
            <a:endParaRPr/>
          </a:p>
        </p:txBody>
      </p:sp>
      <p:sp>
        <p:nvSpPr>
          <p:cNvPr id="77" name="Google Shape;77;p5"/>
          <p:cNvSpPr/>
          <p:nvPr/>
        </p:nvSpPr>
        <p:spPr>
          <a:xfrm>
            <a:off x="819150" y="3924300"/>
            <a:ext cx="4171950" cy="990600"/>
          </a:xfrm>
          <a:prstGeom prst="roundRect">
            <a:avLst>
              <a:gd fmla="val 5769" name="adj"/>
            </a:avLst>
          </a:prstGeom>
          <a:solidFill>
            <a:srgbClr val="D7EE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5"/>
          <p:cNvSpPr/>
          <p:nvPr/>
        </p:nvSpPr>
        <p:spPr>
          <a:xfrm>
            <a:off x="990600" y="4038600"/>
            <a:ext cx="85725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11418"/>
              </a:buClr>
              <a:buSzPts val="1650"/>
              <a:buFont typeface="Arial"/>
              <a:buNone/>
            </a:pPr>
            <a:r>
              <a:rPr b="1" lang="en-US" sz="1650">
                <a:solidFill>
                  <a:srgbClr val="111418"/>
                </a:solidFill>
              </a:rPr>
              <a:t>svpn</a:t>
            </a:r>
            <a:endParaRPr/>
          </a:p>
        </p:txBody>
      </p:sp>
      <p:sp>
        <p:nvSpPr>
          <p:cNvPr id="79" name="Google Shape;79;p5"/>
          <p:cNvSpPr/>
          <p:nvPr/>
        </p:nvSpPr>
        <p:spPr>
          <a:xfrm>
            <a:off x="1866900" y="4019550"/>
            <a:ext cx="291465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11418"/>
              </a:buClr>
              <a:buSzPts val="1200"/>
              <a:buFont typeface="Arial"/>
              <a:buNone/>
            </a:pPr>
            <a:r>
              <a:rPr b="0" lang="en-US" sz="1200">
                <a:solidFill>
                  <a:srgbClr val="111418"/>
                </a:solidFill>
              </a:rPr>
              <a:t>poll(tun_fd, udp_fd)</a:t>
            </a:r>
            <a:endParaRPr/>
          </a:p>
          <a:p>
            <a:pPr indent="0" lvl="0" marL="0" marR="0" rtl="0" algn="l">
              <a:spcBef>
                <a:spcPts val="0"/>
              </a:spcBef>
              <a:spcAft>
                <a:spcPts val="0"/>
              </a:spcAft>
              <a:buClr>
                <a:srgbClr val="111418"/>
              </a:buClr>
              <a:buSzPts val="1200"/>
              <a:buFont typeface="Arial"/>
              <a:buNone/>
            </a:pPr>
            <a:r>
              <a:rPr b="0" lang="en-US" sz="1200">
                <a:solidFill>
                  <a:srgbClr val="111418"/>
                </a:solidFill>
              </a:rPr>
              <a:t>protocol encode/decode · AEAD · replay state</a:t>
            </a:r>
            <a:endParaRPr/>
          </a:p>
        </p:txBody>
      </p:sp>
      <p:sp>
        <p:nvSpPr>
          <p:cNvPr id="80" name="Google Shape;80;p5"/>
          <p:cNvSpPr/>
          <p:nvPr/>
        </p:nvSpPr>
        <p:spPr>
          <a:xfrm>
            <a:off x="819150" y="5048250"/>
            <a:ext cx="4171950" cy="495300"/>
          </a:xfrm>
          <a:prstGeom prst="roundRect">
            <a:avLst>
              <a:gd fmla="val 11538" name="adj"/>
            </a:avLst>
          </a:prstGeom>
          <a:solidFill>
            <a:srgbClr val="F0F2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5"/>
          <p:cNvSpPr/>
          <p:nvPr/>
        </p:nvSpPr>
        <p:spPr>
          <a:xfrm>
            <a:off x="895350" y="5095875"/>
            <a:ext cx="4019550" cy="40005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11418"/>
              </a:buClr>
              <a:buSzPts val="1275"/>
              <a:buFont typeface="Arial"/>
              <a:buNone/>
            </a:pPr>
            <a:r>
              <a:rPr b="1" lang="en-US" sz="1275">
                <a:solidFill>
                  <a:srgbClr val="111418"/>
                </a:solidFill>
              </a:rPr>
              <a:t>UDP socket · 10.7.51.1:55555</a:t>
            </a:r>
            <a:endParaRPr/>
          </a:p>
        </p:txBody>
      </p:sp>
      <p:sp>
        <p:nvSpPr>
          <p:cNvPr id="82" name="Google Shape;82;p5"/>
          <p:cNvSpPr/>
          <p:nvPr/>
        </p:nvSpPr>
        <p:spPr>
          <a:xfrm>
            <a:off x="819150" y="5657850"/>
            <a:ext cx="4171950" cy="323850"/>
          </a:xfrm>
          <a:prstGeom prst="roundRect">
            <a:avLst>
              <a:gd fmla="val 17647" name="adj"/>
            </a:avLst>
          </a:prstGeom>
          <a:solidFill>
            <a:srgbClr val="16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5"/>
          <p:cNvSpPr/>
          <p:nvPr/>
        </p:nvSpPr>
        <p:spPr>
          <a:xfrm>
            <a:off x="895350" y="5705475"/>
            <a:ext cx="4019550" cy="228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75"/>
              <a:buFont typeface="Arial"/>
              <a:buNone/>
            </a:pPr>
            <a:r>
              <a:rPr b="1" lang="en-US" sz="1275">
                <a:solidFill>
                  <a:srgbClr val="FFFFFF"/>
                </a:solidFill>
              </a:rPr>
              <a:t>wlan0</a:t>
            </a:r>
            <a:endParaRPr/>
          </a:p>
        </p:txBody>
      </p:sp>
      <p:sp>
        <p:nvSpPr>
          <p:cNvPr id="84" name="Google Shape;84;p5"/>
          <p:cNvSpPr/>
          <p:nvPr/>
        </p:nvSpPr>
        <p:spPr>
          <a:xfrm>
            <a:off x="7200900" y="1866900"/>
            <a:ext cx="4171950" cy="552450"/>
          </a:xfrm>
          <a:prstGeom prst="roundRect">
            <a:avLst>
              <a:gd fmla="val 10345"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5"/>
          <p:cNvSpPr/>
          <p:nvPr/>
        </p:nvSpPr>
        <p:spPr>
          <a:xfrm>
            <a:off x="7277100" y="1914525"/>
            <a:ext cx="401955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11418"/>
              </a:buClr>
              <a:buSzPts val="1350"/>
              <a:buFont typeface="Arial"/>
              <a:buNone/>
            </a:pPr>
            <a:r>
              <a:rPr b="1" lang="en-US" sz="1350">
                <a:solidFill>
                  <a:srgbClr val="111418"/>
                </a:solidFill>
              </a:rPr>
              <a:t>Applications</a:t>
            </a:r>
            <a:endParaRPr/>
          </a:p>
          <a:p>
            <a:pPr indent="0" lvl="0" marL="0" marR="0" rtl="0" algn="ctr">
              <a:spcBef>
                <a:spcPts val="0"/>
              </a:spcBef>
              <a:spcAft>
                <a:spcPts val="0"/>
              </a:spcAft>
              <a:buClr>
                <a:srgbClr val="111418"/>
              </a:buClr>
              <a:buSzPts val="1350"/>
              <a:buFont typeface="Arial"/>
              <a:buNone/>
            </a:pPr>
            <a:r>
              <a:rPr b="1" lang="en-US" sz="1350">
                <a:solidFill>
                  <a:srgbClr val="111418"/>
                </a:solidFill>
              </a:rPr>
              <a:t>ICMP · TCP · UDP</a:t>
            </a:r>
            <a:endParaRPr/>
          </a:p>
        </p:txBody>
      </p:sp>
      <p:sp>
        <p:nvSpPr>
          <p:cNvPr id="86" name="Google Shape;86;p5"/>
          <p:cNvSpPr/>
          <p:nvPr/>
        </p:nvSpPr>
        <p:spPr>
          <a:xfrm>
            <a:off x="7200900" y="2552700"/>
            <a:ext cx="4171950" cy="552450"/>
          </a:xfrm>
          <a:prstGeom prst="roundRect">
            <a:avLst>
              <a:gd fmla="val 10345" name="adj"/>
            </a:avLst>
          </a:prstGeom>
          <a:solidFill>
            <a:srgbClr val="F0F2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5"/>
          <p:cNvSpPr/>
          <p:nvPr/>
        </p:nvSpPr>
        <p:spPr>
          <a:xfrm>
            <a:off x="7277100" y="2600325"/>
            <a:ext cx="401955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11418"/>
              </a:buClr>
              <a:buSzPts val="1275"/>
              <a:buFont typeface="Arial"/>
              <a:buNone/>
            </a:pPr>
            <a:r>
              <a:rPr b="1" lang="en-US" sz="1275">
                <a:solidFill>
                  <a:srgbClr val="111418"/>
                </a:solidFill>
              </a:rPr>
              <a:t>Linux IPv4 input / socket delivery</a:t>
            </a:r>
            <a:endParaRPr/>
          </a:p>
        </p:txBody>
      </p:sp>
      <p:sp>
        <p:nvSpPr>
          <p:cNvPr id="88" name="Google Shape;88;p5"/>
          <p:cNvSpPr/>
          <p:nvPr/>
        </p:nvSpPr>
        <p:spPr>
          <a:xfrm>
            <a:off x="7200900" y="3238500"/>
            <a:ext cx="4171950" cy="552450"/>
          </a:xfrm>
          <a:prstGeom prst="roundRect">
            <a:avLst>
              <a:gd fmla="val 10345" name="adj"/>
            </a:avLst>
          </a:prstGeom>
          <a:solidFill>
            <a:srgbClr val="DD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5"/>
          <p:cNvSpPr/>
          <p:nvPr/>
        </p:nvSpPr>
        <p:spPr>
          <a:xfrm>
            <a:off x="7277100" y="3286125"/>
            <a:ext cx="401955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11418"/>
              </a:buClr>
              <a:buSzPts val="1350"/>
              <a:buFont typeface="Arial"/>
              <a:buNone/>
            </a:pPr>
            <a:r>
              <a:rPr b="1" lang="en-US" sz="1350">
                <a:solidFill>
                  <a:srgbClr val="111418"/>
                </a:solidFill>
              </a:rPr>
              <a:t>tun0 · 192.168.250.2/30 · MTU 1400</a:t>
            </a:r>
            <a:endParaRPr/>
          </a:p>
        </p:txBody>
      </p:sp>
      <p:sp>
        <p:nvSpPr>
          <p:cNvPr id="90" name="Google Shape;90;p5"/>
          <p:cNvSpPr/>
          <p:nvPr/>
        </p:nvSpPr>
        <p:spPr>
          <a:xfrm>
            <a:off x="7200900" y="3924300"/>
            <a:ext cx="4171950" cy="990600"/>
          </a:xfrm>
          <a:prstGeom prst="roundRect">
            <a:avLst>
              <a:gd fmla="val 5769" name="adj"/>
            </a:avLst>
          </a:prstGeom>
          <a:solidFill>
            <a:srgbClr val="D7EE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5"/>
          <p:cNvSpPr/>
          <p:nvPr/>
        </p:nvSpPr>
        <p:spPr>
          <a:xfrm>
            <a:off x="7372350" y="4038600"/>
            <a:ext cx="85725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11418"/>
              </a:buClr>
              <a:buSzPts val="1650"/>
              <a:buFont typeface="Arial"/>
              <a:buNone/>
            </a:pPr>
            <a:r>
              <a:rPr b="1" lang="en-US" sz="1650">
                <a:solidFill>
                  <a:srgbClr val="111418"/>
                </a:solidFill>
              </a:rPr>
              <a:t>svpn</a:t>
            </a:r>
            <a:endParaRPr/>
          </a:p>
        </p:txBody>
      </p:sp>
      <p:sp>
        <p:nvSpPr>
          <p:cNvPr id="92" name="Google Shape;92;p5"/>
          <p:cNvSpPr/>
          <p:nvPr/>
        </p:nvSpPr>
        <p:spPr>
          <a:xfrm>
            <a:off x="8248650" y="4019550"/>
            <a:ext cx="291465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11418"/>
              </a:buClr>
              <a:buSzPts val="1200"/>
              <a:buFont typeface="Arial"/>
              <a:buNone/>
            </a:pPr>
            <a:r>
              <a:rPr b="0" lang="en-US" sz="1200">
                <a:solidFill>
                  <a:srgbClr val="111418"/>
                </a:solidFill>
              </a:rPr>
              <a:t>peer/session checks · decrypt/authenticate</a:t>
            </a:r>
            <a:endParaRPr/>
          </a:p>
          <a:p>
            <a:pPr indent="0" lvl="0" marL="0" marR="0" rtl="0" algn="l">
              <a:spcBef>
                <a:spcPts val="0"/>
              </a:spcBef>
              <a:spcAft>
                <a:spcPts val="0"/>
              </a:spcAft>
              <a:buClr>
                <a:srgbClr val="111418"/>
              </a:buClr>
              <a:buSzPts val="1200"/>
              <a:buFont typeface="Arial"/>
              <a:buNone/>
            </a:pPr>
            <a:r>
              <a:rPr b="0" lang="en-US" sz="1200">
                <a:solidFill>
                  <a:srgbClr val="111418"/>
                </a:solidFill>
              </a:rPr>
              <a:t>replay_check_update() · write_full(tun_fd)</a:t>
            </a:r>
            <a:endParaRPr/>
          </a:p>
        </p:txBody>
      </p:sp>
      <p:sp>
        <p:nvSpPr>
          <p:cNvPr id="93" name="Google Shape;93;p5"/>
          <p:cNvSpPr/>
          <p:nvPr/>
        </p:nvSpPr>
        <p:spPr>
          <a:xfrm>
            <a:off x="7200900" y="5048250"/>
            <a:ext cx="4171950" cy="495300"/>
          </a:xfrm>
          <a:prstGeom prst="roundRect">
            <a:avLst>
              <a:gd fmla="val 11538" name="adj"/>
            </a:avLst>
          </a:prstGeom>
          <a:solidFill>
            <a:srgbClr val="F0F2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a:off x="7277100" y="5095875"/>
            <a:ext cx="4019550" cy="40005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11418"/>
              </a:buClr>
              <a:buSzPts val="1275"/>
              <a:buFont typeface="Arial"/>
              <a:buNone/>
            </a:pPr>
            <a:r>
              <a:rPr b="1" lang="en-US" sz="1275">
                <a:solidFill>
                  <a:srgbClr val="111418"/>
                </a:solidFill>
              </a:rPr>
              <a:t>UDP socket · 10.7.50.242:55555</a:t>
            </a:r>
            <a:endParaRPr/>
          </a:p>
        </p:txBody>
      </p:sp>
      <p:sp>
        <p:nvSpPr>
          <p:cNvPr id="95" name="Google Shape;95;p5"/>
          <p:cNvSpPr/>
          <p:nvPr/>
        </p:nvSpPr>
        <p:spPr>
          <a:xfrm>
            <a:off x="7200900" y="5657850"/>
            <a:ext cx="4171950" cy="323850"/>
          </a:xfrm>
          <a:prstGeom prst="roundRect">
            <a:avLst>
              <a:gd fmla="val 17647" name="adj"/>
            </a:avLst>
          </a:prstGeom>
          <a:solidFill>
            <a:srgbClr val="16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5"/>
          <p:cNvSpPr/>
          <p:nvPr/>
        </p:nvSpPr>
        <p:spPr>
          <a:xfrm>
            <a:off x="7277100" y="5705475"/>
            <a:ext cx="4019550" cy="228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75"/>
              <a:buFont typeface="Arial"/>
              <a:buNone/>
            </a:pPr>
            <a:r>
              <a:rPr b="1" lang="en-US" sz="1275">
                <a:solidFill>
                  <a:srgbClr val="FFFFFF"/>
                </a:solidFill>
              </a:rPr>
              <a:t>wlan0</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1" name="Shape 101"/>
        <p:cNvGrpSpPr/>
        <p:nvPr/>
      </p:nvGrpSpPr>
      <p:grpSpPr>
        <a:xfrm>
          <a:off x="0" y="0"/>
          <a:ext cx="0" cy="0"/>
          <a:chOff x="0" y="0"/>
          <a:chExt cx="0" cy="0"/>
        </a:xfrm>
      </p:grpSpPr>
      <p:sp>
        <p:nvSpPr>
          <p:cNvPr id="102" name="Google Shape;102;p6"/>
          <p:cNvSpPr/>
          <p:nvPr/>
        </p:nvSpPr>
        <p:spPr>
          <a:xfrm>
            <a:off x="457200" y="171450"/>
            <a:ext cx="4762500" cy="209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D8DFF"/>
              </a:buClr>
              <a:buSzPts val="1050"/>
              <a:buFont typeface="Arial"/>
              <a:buNone/>
            </a:pPr>
            <a:r>
              <a:rPr b="1" lang="en-US" sz="1050">
                <a:solidFill>
                  <a:srgbClr val="3D8DFF"/>
                </a:solidFill>
              </a:rPr>
              <a:t> IMPLEMENTATION</a:t>
            </a:r>
            <a:endParaRPr/>
          </a:p>
        </p:txBody>
      </p:sp>
      <p:sp>
        <p:nvSpPr>
          <p:cNvPr id="103" name="Google Shape;103;p6"/>
          <p:cNvSpPr/>
          <p:nvPr/>
        </p:nvSpPr>
        <p:spPr>
          <a:xfrm>
            <a:off x="457200" y="552450"/>
            <a:ext cx="112395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11418"/>
              </a:buClr>
              <a:buSzPts val="2625"/>
              <a:buFont typeface="Arial"/>
              <a:buNone/>
            </a:pPr>
            <a:r>
              <a:rPr b="1" lang="en-US" sz="2625">
                <a:solidFill>
                  <a:srgbClr val="111418"/>
                </a:solidFill>
              </a:rPr>
              <a:t>Packet processing inside svpn</a:t>
            </a:r>
            <a:endParaRPr/>
          </a:p>
        </p:txBody>
      </p:sp>
      <p:cxnSp>
        <p:nvCxnSpPr>
          <p:cNvPr id="104" name="Google Shape;104;p6"/>
          <p:cNvCxnSpPr/>
          <p:nvPr/>
        </p:nvCxnSpPr>
        <p:spPr>
          <a:xfrm>
            <a:off x="457200" y="1257300"/>
            <a:ext cx="11277600" cy="0"/>
          </a:xfrm>
          <a:prstGeom prst="straightConnector1">
            <a:avLst/>
          </a:prstGeom>
          <a:noFill/>
          <a:ln cap="flat" cmpd="sng" w="9525">
            <a:solidFill>
              <a:srgbClr val="B8BCC4"/>
            </a:solidFill>
            <a:prstDash val="solid"/>
            <a:round/>
            <a:headEnd len="sm" w="sm" type="none"/>
            <a:tailEnd len="sm" w="sm" type="none"/>
          </a:ln>
        </p:spPr>
      </p:cxnSp>
      <p:sp>
        <p:nvSpPr>
          <p:cNvPr id="105" name="Google Shape;105;p6"/>
          <p:cNvSpPr/>
          <p:nvPr/>
        </p:nvSpPr>
        <p:spPr>
          <a:xfrm>
            <a:off x="11001375" y="6429375"/>
            <a:ext cx="733425" cy="1714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5E6672"/>
              </a:buClr>
              <a:buSzPts val="900"/>
              <a:buFont typeface="Arial"/>
              <a:buNone/>
            </a:pPr>
            <a:r>
              <a:rPr b="0" lang="en-US" sz="900">
                <a:solidFill>
                  <a:srgbClr val="5E6672"/>
                </a:solidFill>
              </a:rPr>
              <a:t>· 04</a:t>
            </a:r>
            <a:endParaRPr/>
          </a:p>
        </p:txBody>
      </p:sp>
      <p:sp>
        <p:nvSpPr>
          <p:cNvPr id="106" name="Google Shape;106;p6"/>
          <p:cNvSpPr/>
          <p:nvPr/>
        </p:nvSpPr>
        <p:spPr>
          <a:xfrm>
            <a:off x="514350" y="1409700"/>
            <a:ext cx="8858250" cy="3238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11418"/>
              </a:buClr>
              <a:buSzPts val="1650"/>
              <a:buFont typeface="Arial"/>
              <a:buNone/>
            </a:pPr>
            <a:r>
              <a:rPr b="1" lang="en-US" sz="1650">
                <a:solidFill>
                  <a:srgbClr val="111418"/>
                </a:solidFill>
              </a:rPr>
              <a:t>Single-threaded event loop: poll() waits on tun_fd and udp_fd</a:t>
            </a:r>
            <a:endParaRPr/>
          </a:p>
        </p:txBody>
      </p:sp>
      <p:sp>
        <p:nvSpPr>
          <p:cNvPr id="107" name="Google Shape;107;p6"/>
          <p:cNvSpPr/>
          <p:nvPr/>
        </p:nvSpPr>
        <p:spPr>
          <a:xfrm>
            <a:off x="514350" y="2000250"/>
            <a:ext cx="1905000" cy="209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D8DFF"/>
              </a:buClr>
              <a:buSzPts val="1050"/>
              <a:buFont typeface="Arial"/>
              <a:buNone/>
            </a:pPr>
            <a:r>
              <a:rPr b="1" lang="en-US" sz="1050">
                <a:solidFill>
                  <a:srgbClr val="3D8DFF"/>
                </a:solidFill>
              </a:rPr>
              <a:t>TRANSMIT PATH</a:t>
            </a:r>
            <a:endParaRPr/>
          </a:p>
        </p:txBody>
      </p:sp>
      <p:sp>
        <p:nvSpPr>
          <p:cNvPr id="108" name="Google Shape;108;p6"/>
          <p:cNvSpPr/>
          <p:nvPr/>
        </p:nvSpPr>
        <p:spPr>
          <a:xfrm>
            <a:off x="2114550" y="2571750"/>
            <a:ext cx="571500" cy="171450"/>
          </a:xfrm>
          <a:prstGeom prst="rightArrow">
            <a:avLst>
              <a:gd fmla="val 50000" name="adj1"/>
              <a:gd fmla="val 50000" name="adj2"/>
            </a:avLst>
          </a:prstGeom>
          <a:solidFill>
            <a:srgbClr val="3D8DFF"/>
          </a:solidFill>
          <a:ln cap="flat" cmpd="sng" w="9525">
            <a:solidFill>
              <a:srgbClr val="3D8D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6"/>
          <p:cNvSpPr/>
          <p:nvPr/>
        </p:nvSpPr>
        <p:spPr>
          <a:xfrm>
            <a:off x="4248150" y="2571750"/>
            <a:ext cx="571500" cy="171450"/>
          </a:xfrm>
          <a:prstGeom prst="rightArrow">
            <a:avLst>
              <a:gd fmla="val 50000" name="adj1"/>
              <a:gd fmla="val 50000" name="adj2"/>
            </a:avLst>
          </a:prstGeom>
          <a:solidFill>
            <a:srgbClr val="3D8DFF"/>
          </a:solidFill>
          <a:ln cap="flat" cmpd="sng" w="9525">
            <a:solidFill>
              <a:srgbClr val="3D8D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6"/>
          <p:cNvSpPr/>
          <p:nvPr/>
        </p:nvSpPr>
        <p:spPr>
          <a:xfrm>
            <a:off x="6381750" y="2571750"/>
            <a:ext cx="571500" cy="171450"/>
          </a:xfrm>
          <a:prstGeom prst="rightArrow">
            <a:avLst>
              <a:gd fmla="val 50000" name="adj1"/>
              <a:gd fmla="val 50000" name="adj2"/>
            </a:avLst>
          </a:prstGeom>
          <a:solidFill>
            <a:srgbClr val="3D8DFF"/>
          </a:solidFill>
          <a:ln cap="flat" cmpd="sng" w="9525">
            <a:solidFill>
              <a:srgbClr val="3D8D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6"/>
          <p:cNvSpPr/>
          <p:nvPr/>
        </p:nvSpPr>
        <p:spPr>
          <a:xfrm>
            <a:off x="8515350" y="2571750"/>
            <a:ext cx="571500" cy="171450"/>
          </a:xfrm>
          <a:prstGeom prst="rightArrow">
            <a:avLst>
              <a:gd fmla="val 50000" name="adj1"/>
              <a:gd fmla="val 50000" name="adj2"/>
            </a:avLst>
          </a:prstGeom>
          <a:solidFill>
            <a:srgbClr val="3D8DFF"/>
          </a:solidFill>
          <a:ln cap="flat" cmpd="sng" w="9525">
            <a:solidFill>
              <a:srgbClr val="3D8D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6"/>
          <p:cNvSpPr/>
          <p:nvPr/>
        </p:nvSpPr>
        <p:spPr>
          <a:xfrm>
            <a:off x="514350" y="2286000"/>
            <a:ext cx="1676400" cy="742950"/>
          </a:xfrm>
          <a:prstGeom prst="roundRect">
            <a:avLst>
              <a:gd fmla="val 7692" name="adj"/>
            </a:avLst>
          </a:prstGeom>
          <a:solidFill>
            <a:srgbClr val="F0F2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6"/>
          <p:cNvSpPr/>
          <p:nvPr/>
        </p:nvSpPr>
        <p:spPr>
          <a:xfrm>
            <a:off x="590550" y="2333625"/>
            <a:ext cx="1524000" cy="647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11418"/>
              </a:buClr>
              <a:buSzPts val="1275"/>
              <a:buFont typeface="Arial"/>
              <a:buNone/>
            </a:pPr>
            <a:r>
              <a:rPr b="1" lang="en-US" sz="1275">
                <a:solidFill>
                  <a:srgbClr val="111418"/>
                </a:solidFill>
              </a:rPr>
              <a:t>read(tun_fd)</a:t>
            </a:r>
            <a:endParaRPr/>
          </a:p>
        </p:txBody>
      </p:sp>
      <p:sp>
        <p:nvSpPr>
          <p:cNvPr id="114" name="Google Shape;114;p6"/>
          <p:cNvSpPr/>
          <p:nvPr/>
        </p:nvSpPr>
        <p:spPr>
          <a:xfrm>
            <a:off x="2647950" y="2286000"/>
            <a:ext cx="1676400" cy="742950"/>
          </a:xfrm>
          <a:prstGeom prst="roundRect">
            <a:avLst>
              <a:gd fmla="val 7692" name="adj"/>
            </a:avLst>
          </a:prstGeom>
          <a:solidFill>
            <a:srgbClr val="F0F2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6"/>
          <p:cNvSpPr/>
          <p:nvPr/>
        </p:nvSpPr>
        <p:spPr>
          <a:xfrm>
            <a:off x="2724150" y="2333625"/>
            <a:ext cx="1524000" cy="647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11418"/>
              </a:buClr>
              <a:buSzPts val="1275"/>
              <a:buFont typeface="Arial"/>
              <a:buNone/>
            </a:pPr>
            <a:r>
              <a:rPr b="1" lang="en-US" sz="1275">
                <a:solidFill>
                  <a:srgbClr val="111418"/>
                </a:solidFill>
              </a:rPr>
              <a:t>seq + header</a:t>
            </a:r>
            <a:endParaRPr/>
          </a:p>
        </p:txBody>
      </p:sp>
      <p:sp>
        <p:nvSpPr>
          <p:cNvPr id="116" name="Google Shape;116;p6"/>
          <p:cNvSpPr/>
          <p:nvPr/>
        </p:nvSpPr>
        <p:spPr>
          <a:xfrm>
            <a:off x="4781550" y="2286000"/>
            <a:ext cx="1676400" cy="742950"/>
          </a:xfrm>
          <a:prstGeom prst="roundRect">
            <a:avLst>
              <a:gd fmla="val 7692" name="adj"/>
            </a:avLst>
          </a:prstGeom>
          <a:solidFill>
            <a:srgbClr val="F0F2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6"/>
          <p:cNvSpPr/>
          <p:nvPr/>
        </p:nvSpPr>
        <p:spPr>
          <a:xfrm>
            <a:off x="4857750" y="2333625"/>
            <a:ext cx="1524000" cy="647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11418"/>
              </a:buClr>
              <a:buSzPts val="1275"/>
              <a:buFont typeface="Arial"/>
              <a:buNone/>
            </a:pPr>
            <a:r>
              <a:rPr b="1" lang="en-US" sz="1275">
                <a:solidFill>
                  <a:srgbClr val="111418"/>
                </a:solidFill>
              </a:rPr>
              <a:t>nonce_build()</a:t>
            </a:r>
            <a:endParaRPr/>
          </a:p>
        </p:txBody>
      </p:sp>
      <p:sp>
        <p:nvSpPr>
          <p:cNvPr id="118" name="Google Shape;118;p6"/>
          <p:cNvSpPr/>
          <p:nvPr/>
        </p:nvSpPr>
        <p:spPr>
          <a:xfrm>
            <a:off x="6915150" y="2286000"/>
            <a:ext cx="1676400" cy="742950"/>
          </a:xfrm>
          <a:prstGeom prst="roundRect">
            <a:avLst>
              <a:gd fmla="val 7692" name="adj"/>
            </a:avLst>
          </a:prstGeom>
          <a:solidFill>
            <a:srgbClr val="D7EE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6"/>
          <p:cNvSpPr/>
          <p:nvPr/>
        </p:nvSpPr>
        <p:spPr>
          <a:xfrm>
            <a:off x="6991350" y="2333625"/>
            <a:ext cx="1524000" cy="647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11418"/>
              </a:buClr>
              <a:buSzPts val="1275"/>
              <a:buFont typeface="Arial"/>
              <a:buNone/>
            </a:pPr>
            <a:r>
              <a:rPr b="1" lang="en-US" sz="1275">
                <a:solidFill>
                  <a:srgbClr val="111418"/>
                </a:solidFill>
              </a:rPr>
              <a:t>aead_encrypt()</a:t>
            </a:r>
            <a:endParaRPr/>
          </a:p>
        </p:txBody>
      </p:sp>
      <p:sp>
        <p:nvSpPr>
          <p:cNvPr id="120" name="Google Shape;120;p6"/>
          <p:cNvSpPr/>
          <p:nvPr/>
        </p:nvSpPr>
        <p:spPr>
          <a:xfrm>
            <a:off x="9048750" y="2286000"/>
            <a:ext cx="1676400" cy="742950"/>
          </a:xfrm>
          <a:prstGeom prst="roundRect">
            <a:avLst>
              <a:gd fmla="val 7692" name="adj"/>
            </a:avLst>
          </a:prstGeom>
          <a:solidFill>
            <a:srgbClr val="F0F2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6"/>
          <p:cNvSpPr/>
          <p:nvPr/>
        </p:nvSpPr>
        <p:spPr>
          <a:xfrm>
            <a:off x="9124950" y="2333625"/>
            <a:ext cx="1524000" cy="647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11418"/>
              </a:buClr>
              <a:buSzPts val="1275"/>
              <a:buFont typeface="Arial"/>
              <a:buNone/>
            </a:pPr>
            <a:r>
              <a:rPr b="1" lang="en-US" sz="1275">
                <a:solidFill>
                  <a:srgbClr val="111418"/>
                </a:solidFill>
              </a:rPr>
              <a:t>sendto()</a:t>
            </a:r>
            <a:endParaRPr/>
          </a:p>
        </p:txBody>
      </p:sp>
      <p:sp>
        <p:nvSpPr>
          <p:cNvPr id="122" name="Google Shape;122;p6"/>
          <p:cNvSpPr/>
          <p:nvPr/>
        </p:nvSpPr>
        <p:spPr>
          <a:xfrm>
            <a:off x="514350" y="3486150"/>
            <a:ext cx="1905000" cy="209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6876F"/>
              </a:buClr>
              <a:buSzPts val="1050"/>
              <a:buFont typeface="Arial"/>
              <a:buNone/>
            </a:pPr>
            <a:r>
              <a:rPr b="1" lang="en-US" sz="1050">
                <a:solidFill>
                  <a:srgbClr val="16876F"/>
                </a:solidFill>
              </a:rPr>
              <a:t>RECEIVE PATH</a:t>
            </a:r>
            <a:endParaRPr/>
          </a:p>
        </p:txBody>
      </p:sp>
      <p:sp>
        <p:nvSpPr>
          <p:cNvPr id="123" name="Google Shape;123;p6"/>
          <p:cNvSpPr/>
          <p:nvPr/>
        </p:nvSpPr>
        <p:spPr>
          <a:xfrm>
            <a:off x="2114550" y="4057650"/>
            <a:ext cx="571500" cy="171450"/>
          </a:xfrm>
          <a:prstGeom prst="rightArrow">
            <a:avLst>
              <a:gd fmla="val 50000" name="adj1"/>
              <a:gd fmla="val 50000" name="adj2"/>
            </a:avLst>
          </a:prstGeom>
          <a:solidFill>
            <a:srgbClr val="16876F"/>
          </a:solidFill>
          <a:ln cap="flat" cmpd="sng" w="9525">
            <a:solidFill>
              <a:srgbClr val="16876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6"/>
          <p:cNvSpPr/>
          <p:nvPr/>
        </p:nvSpPr>
        <p:spPr>
          <a:xfrm>
            <a:off x="4248150" y="4057650"/>
            <a:ext cx="571500" cy="171450"/>
          </a:xfrm>
          <a:prstGeom prst="rightArrow">
            <a:avLst>
              <a:gd fmla="val 50000" name="adj1"/>
              <a:gd fmla="val 50000" name="adj2"/>
            </a:avLst>
          </a:prstGeom>
          <a:solidFill>
            <a:srgbClr val="16876F"/>
          </a:solidFill>
          <a:ln cap="flat" cmpd="sng" w="9525">
            <a:solidFill>
              <a:srgbClr val="16876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6"/>
          <p:cNvSpPr/>
          <p:nvPr/>
        </p:nvSpPr>
        <p:spPr>
          <a:xfrm>
            <a:off x="6381750" y="4057650"/>
            <a:ext cx="571500" cy="171450"/>
          </a:xfrm>
          <a:prstGeom prst="rightArrow">
            <a:avLst>
              <a:gd fmla="val 50000" name="adj1"/>
              <a:gd fmla="val 50000" name="adj2"/>
            </a:avLst>
          </a:prstGeom>
          <a:solidFill>
            <a:srgbClr val="16876F"/>
          </a:solidFill>
          <a:ln cap="flat" cmpd="sng" w="9525">
            <a:solidFill>
              <a:srgbClr val="16876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6"/>
          <p:cNvSpPr/>
          <p:nvPr/>
        </p:nvSpPr>
        <p:spPr>
          <a:xfrm>
            <a:off x="8515350" y="4057650"/>
            <a:ext cx="571500" cy="171450"/>
          </a:xfrm>
          <a:prstGeom prst="rightArrow">
            <a:avLst>
              <a:gd fmla="val 50000" name="adj1"/>
              <a:gd fmla="val 50000" name="adj2"/>
            </a:avLst>
          </a:prstGeom>
          <a:solidFill>
            <a:srgbClr val="16876F"/>
          </a:solidFill>
          <a:ln cap="flat" cmpd="sng" w="9525">
            <a:solidFill>
              <a:srgbClr val="16876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6"/>
          <p:cNvSpPr/>
          <p:nvPr/>
        </p:nvSpPr>
        <p:spPr>
          <a:xfrm>
            <a:off x="514350" y="3771900"/>
            <a:ext cx="1676400" cy="742950"/>
          </a:xfrm>
          <a:prstGeom prst="roundRect">
            <a:avLst>
              <a:gd fmla="val 7692" name="adj"/>
            </a:avLst>
          </a:prstGeom>
          <a:solidFill>
            <a:srgbClr val="F0F2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6"/>
          <p:cNvSpPr/>
          <p:nvPr/>
        </p:nvSpPr>
        <p:spPr>
          <a:xfrm>
            <a:off x="590550" y="3819525"/>
            <a:ext cx="1524000" cy="647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11418"/>
              </a:buClr>
              <a:buSzPts val="1275"/>
              <a:buFont typeface="Arial"/>
              <a:buNone/>
            </a:pPr>
            <a:r>
              <a:rPr b="1" lang="en-US" sz="1275">
                <a:solidFill>
                  <a:srgbClr val="111418"/>
                </a:solidFill>
              </a:rPr>
              <a:t>recvfrom()</a:t>
            </a:r>
            <a:endParaRPr/>
          </a:p>
        </p:txBody>
      </p:sp>
      <p:sp>
        <p:nvSpPr>
          <p:cNvPr id="129" name="Google Shape;129;p6"/>
          <p:cNvSpPr/>
          <p:nvPr/>
        </p:nvSpPr>
        <p:spPr>
          <a:xfrm>
            <a:off x="2647950" y="3771900"/>
            <a:ext cx="1676400" cy="742950"/>
          </a:xfrm>
          <a:prstGeom prst="roundRect">
            <a:avLst>
              <a:gd fmla="val 7692" name="adj"/>
            </a:avLst>
          </a:prstGeom>
          <a:solidFill>
            <a:srgbClr val="F0F2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6"/>
          <p:cNvSpPr/>
          <p:nvPr/>
        </p:nvSpPr>
        <p:spPr>
          <a:xfrm>
            <a:off x="2724150" y="3819525"/>
            <a:ext cx="1524000" cy="647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11418"/>
              </a:buClr>
              <a:buSzPts val="1275"/>
              <a:buFont typeface="Arial"/>
              <a:buNone/>
            </a:pPr>
            <a:r>
              <a:rPr b="1" lang="en-US" sz="1275">
                <a:solidFill>
                  <a:srgbClr val="111418"/>
                </a:solidFill>
              </a:rPr>
              <a:t>peer + header</a:t>
            </a:r>
            <a:endParaRPr/>
          </a:p>
        </p:txBody>
      </p:sp>
      <p:sp>
        <p:nvSpPr>
          <p:cNvPr id="131" name="Google Shape;131;p6"/>
          <p:cNvSpPr/>
          <p:nvPr/>
        </p:nvSpPr>
        <p:spPr>
          <a:xfrm>
            <a:off x="4781550" y="3771900"/>
            <a:ext cx="1676400" cy="742950"/>
          </a:xfrm>
          <a:prstGeom prst="roundRect">
            <a:avLst>
              <a:gd fmla="val 7692" name="adj"/>
            </a:avLst>
          </a:prstGeom>
          <a:solidFill>
            <a:srgbClr val="DD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6"/>
          <p:cNvSpPr/>
          <p:nvPr/>
        </p:nvSpPr>
        <p:spPr>
          <a:xfrm>
            <a:off x="4857750" y="3819525"/>
            <a:ext cx="1524000" cy="647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11418"/>
              </a:buClr>
              <a:buSzPts val="1275"/>
              <a:buFont typeface="Arial"/>
              <a:buNone/>
            </a:pPr>
            <a:r>
              <a:rPr b="1" lang="en-US" sz="1275">
                <a:solidFill>
                  <a:srgbClr val="111418"/>
                </a:solidFill>
              </a:rPr>
              <a:t>session + AEAD</a:t>
            </a:r>
            <a:endParaRPr/>
          </a:p>
        </p:txBody>
      </p:sp>
      <p:sp>
        <p:nvSpPr>
          <p:cNvPr id="133" name="Google Shape;133;p6"/>
          <p:cNvSpPr/>
          <p:nvPr/>
        </p:nvSpPr>
        <p:spPr>
          <a:xfrm>
            <a:off x="6915150" y="3771900"/>
            <a:ext cx="1676400" cy="742950"/>
          </a:xfrm>
          <a:prstGeom prst="roundRect">
            <a:avLst>
              <a:gd fmla="val 7692" name="adj"/>
            </a:avLst>
          </a:prstGeom>
          <a:solidFill>
            <a:srgbClr val="F0F2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6"/>
          <p:cNvSpPr/>
          <p:nvPr/>
        </p:nvSpPr>
        <p:spPr>
          <a:xfrm>
            <a:off x="6991350" y="3819525"/>
            <a:ext cx="1524000" cy="647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11418"/>
              </a:buClr>
              <a:buSzPts val="1275"/>
              <a:buFont typeface="Arial"/>
              <a:buNone/>
            </a:pPr>
            <a:r>
              <a:rPr b="1" lang="en-US" sz="1275">
                <a:solidFill>
                  <a:srgbClr val="111418"/>
                </a:solidFill>
              </a:rPr>
              <a:t>replay window</a:t>
            </a:r>
            <a:endParaRPr/>
          </a:p>
        </p:txBody>
      </p:sp>
      <p:sp>
        <p:nvSpPr>
          <p:cNvPr id="135" name="Google Shape;135;p6"/>
          <p:cNvSpPr/>
          <p:nvPr/>
        </p:nvSpPr>
        <p:spPr>
          <a:xfrm>
            <a:off x="9048750" y="3771900"/>
            <a:ext cx="1676400" cy="742950"/>
          </a:xfrm>
          <a:prstGeom prst="roundRect">
            <a:avLst>
              <a:gd fmla="val 7692" name="adj"/>
            </a:avLst>
          </a:prstGeom>
          <a:solidFill>
            <a:srgbClr val="F0F2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6"/>
          <p:cNvSpPr/>
          <p:nvPr/>
        </p:nvSpPr>
        <p:spPr>
          <a:xfrm>
            <a:off x="9124950" y="3819525"/>
            <a:ext cx="1524000" cy="647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11418"/>
              </a:buClr>
              <a:buSzPts val="1275"/>
              <a:buFont typeface="Arial"/>
              <a:buNone/>
            </a:pPr>
            <a:r>
              <a:rPr b="1" lang="en-US" sz="1275">
                <a:solidFill>
                  <a:srgbClr val="111418"/>
                </a:solidFill>
              </a:rPr>
              <a:t>write_full(tun_fd)</a:t>
            </a:r>
            <a:endParaRPr/>
          </a:p>
        </p:txBody>
      </p:sp>
      <p:sp>
        <p:nvSpPr>
          <p:cNvPr id="137" name="Google Shape;137;p6"/>
          <p:cNvSpPr/>
          <p:nvPr/>
        </p:nvSpPr>
        <p:spPr>
          <a:xfrm>
            <a:off x="514350" y="4972050"/>
            <a:ext cx="1905000" cy="209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DC7628"/>
              </a:buClr>
              <a:buSzPts val="1050"/>
              <a:buFont typeface="Arial"/>
              <a:buNone/>
            </a:pPr>
            <a:r>
              <a:rPr b="1" lang="en-US" sz="1050">
                <a:solidFill>
                  <a:srgbClr val="DC7628"/>
                </a:solidFill>
              </a:rPr>
              <a:t>DROP COUNTERS</a:t>
            </a:r>
            <a:endParaRPr/>
          </a:p>
        </p:txBody>
      </p:sp>
      <p:sp>
        <p:nvSpPr>
          <p:cNvPr id="138" name="Google Shape;138;p6"/>
          <p:cNvSpPr/>
          <p:nvPr/>
        </p:nvSpPr>
        <p:spPr>
          <a:xfrm>
            <a:off x="514350" y="5314950"/>
            <a:ext cx="1905000" cy="2286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111418"/>
              </a:buClr>
              <a:buSzPts val="1350"/>
              <a:buFont typeface="Arial"/>
              <a:buNone/>
            </a:pPr>
            <a:r>
              <a:rPr b="1" lang="en-US" sz="1350">
                <a:solidFill>
                  <a:srgbClr val="111418"/>
                </a:solidFill>
              </a:rPr>
              <a:t>wrong peer</a:t>
            </a:r>
            <a:endParaRPr/>
          </a:p>
        </p:txBody>
      </p:sp>
      <p:sp>
        <p:nvSpPr>
          <p:cNvPr id="139" name="Google Shape;139;p6"/>
          <p:cNvSpPr/>
          <p:nvPr/>
        </p:nvSpPr>
        <p:spPr>
          <a:xfrm>
            <a:off x="514350" y="5619750"/>
            <a:ext cx="1905000" cy="36195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5E6672"/>
              </a:buClr>
              <a:buSzPts val="1125"/>
              <a:buFont typeface="Arial"/>
              <a:buNone/>
            </a:pPr>
            <a:r>
              <a:rPr b="0" lang="en-US" sz="1125">
                <a:solidFill>
                  <a:srgbClr val="5E6672"/>
                </a:solidFill>
              </a:rPr>
              <a:t>source IP/port mismatch</a:t>
            </a:r>
            <a:endParaRPr/>
          </a:p>
        </p:txBody>
      </p:sp>
      <p:sp>
        <p:nvSpPr>
          <p:cNvPr id="140" name="Google Shape;140;p6"/>
          <p:cNvSpPr/>
          <p:nvPr/>
        </p:nvSpPr>
        <p:spPr>
          <a:xfrm>
            <a:off x="2705100" y="5314950"/>
            <a:ext cx="1905000" cy="2286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111418"/>
              </a:buClr>
              <a:buSzPts val="1350"/>
              <a:buFont typeface="Arial"/>
              <a:buNone/>
            </a:pPr>
            <a:r>
              <a:rPr b="1" lang="en-US" sz="1350">
                <a:solidFill>
                  <a:srgbClr val="111418"/>
                </a:solidFill>
              </a:rPr>
              <a:t>malformed</a:t>
            </a:r>
            <a:endParaRPr/>
          </a:p>
        </p:txBody>
      </p:sp>
      <p:sp>
        <p:nvSpPr>
          <p:cNvPr id="141" name="Google Shape;141;p6"/>
          <p:cNvSpPr/>
          <p:nvPr/>
        </p:nvSpPr>
        <p:spPr>
          <a:xfrm>
            <a:off x="2705100" y="5619750"/>
            <a:ext cx="1905000" cy="36195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5E6672"/>
              </a:buClr>
              <a:buSzPts val="1125"/>
              <a:buFont typeface="Arial"/>
              <a:buNone/>
            </a:pPr>
            <a:r>
              <a:rPr b="0" lang="en-US" sz="1125">
                <a:solidFill>
                  <a:srgbClr val="5E6672"/>
                </a:solidFill>
              </a:rPr>
              <a:t>header/body/length failure</a:t>
            </a:r>
            <a:endParaRPr/>
          </a:p>
        </p:txBody>
      </p:sp>
      <p:sp>
        <p:nvSpPr>
          <p:cNvPr id="142" name="Google Shape;142;p6"/>
          <p:cNvSpPr/>
          <p:nvPr/>
        </p:nvSpPr>
        <p:spPr>
          <a:xfrm>
            <a:off x="4895850" y="5314950"/>
            <a:ext cx="1905000" cy="2286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111418"/>
              </a:buClr>
              <a:buSzPts val="1350"/>
              <a:buFont typeface="Arial"/>
              <a:buNone/>
            </a:pPr>
            <a:r>
              <a:rPr b="1" lang="en-US" sz="1350">
                <a:solidFill>
                  <a:srgbClr val="111418"/>
                </a:solidFill>
              </a:rPr>
              <a:t>wrong session</a:t>
            </a:r>
            <a:endParaRPr/>
          </a:p>
        </p:txBody>
      </p:sp>
      <p:sp>
        <p:nvSpPr>
          <p:cNvPr id="143" name="Google Shape;143;p6"/>
          <p:cNvSpPr/>
          <p:nvPr/>
        </p:nvSpPr>
        <p:spPr>
          <a:xfrm>
            <a:off x="4895850" y="5619750"/>
            <a:ext cx="1905000" cy="36195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5E6672"/>
              </a:buClr>
              <a:buSzPts val="1125"/>
              <a:buFont typeface="Arial"/>
              <a:buNone/>
            </a:pPr>
            <a:r>
              <a:rPr b="0" lang="en-US" sz="1125">
                <a:solidFill>
                  <a:srgbClr val="5E6672"/>
                </a:solidFill>
              </a:rPr>
              <a:t>stale process/session</a:t>
            </a:r>
            <a:endParaRPr/>
          </a:p>
        </p:txBody>
      </p:sp>
      <p:sp>
        <p:nvSpPr>
          <p:cNvPr id="144" name="Google Shape;144;p6"/>
          <p:cNvSpPr/>
          <p:nvPr/>
        </p:nvSpPr>
        <p:spPr>
          <a:xfrm>
            <a:off x="7086600" y="5314950"/>
            <a:ext cx="1905000" cy="2286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111418"/>
              </a:buClr>
              <a:buSzPts val="1350"/>
              <a:buFont typeface="Arial"/>
              <a:buNone/>
            </a:pPr>
            <a:r>
              <a:rPr b="1" lang="en-US" sz="1350">
                <a:solidFill>
                  <a:srgbClr val="111418"/>
                </a:solidFill>
              </a:rPr>
              <a:t>auth failure</a:t>
            </a:r>
            <a:endParaRPr/>
          </a:p>
        </p:txBody>
      </p:sp>
      <p:sp>
        <p:nvSpPr>
          <p:cNvPr id="145" name="Google Shape;145;p6"/>
          <p:cNvSpPr/>
          <p:nvPr/>
        </p:nvSpPr>
        <p:spPr>
          <a:xfrm>
            <a:off x="7086600" y="5619750"/>
            <a:ext cx="1905000" cy="36195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5E6672"/>
              </a:buClr>
              <a:buSzPts val="1125"/>
              <a:buFont typeface="Arial"/>
              <a:buNone/>
            </a:pPr>
            <a:r>
              <a:rPr b="0" lang="en-US" sz="1125">
                <a:solidFill>
                  <a:srgbClr val="5E6672"/>
                </a:solidFill>
              </a:rPr>
              <a:t>tag/AAD/key/nonce mismatch</a:t>
            </a:r>
            <a:endParaRPr/>
          </a:p>
        </p:txBody>
      </p:sp>
      <p:sp>
        <p:nvSpPr>
          <p:cNvPr id="146" name="Google Shape;146;p6"/>
          <p:cNvSpPr/>
          <p:nvPr/>
        </p:nvSpPr>
        <p:spPr>
          <a:xfrm>
            <a:off x="9277350" y="5314950"/>
            <a:ext cx="1905000" cy="2286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111418"/>
              </a:buClr>
              <a:buSzPts val="1350"/>
              <a:buFont typeface="Arial"/>
              <a:buNone/>
            </a:pPr>
            <a:r>
              <a:rPr b="1" lang="en-US" sz="1350">
                <a:solidFill>
                  <a:srgbClr val="111418"/>
                </a:solidFill>
              </a:rPr>
              <a:t>replay</a:t>
            </a:r>
            <a:endParaRPr/>
          </a:p>
        </p:txBody>
      </p:sp>
      <p:sp>
        <p:nvSpPr>
          <p:cNvPr id="147" name="Google Shape;147;p6"/>
          <p:cNvSpPr/>
          <p:nvPr/>
        </p:nvSpPr>
        <p:spPr>
          <a:xfrm>
            <a:off x="9277350" y="5619750"/>
            <a:ext cx="1905000" cy="36195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5E6672"/>
              </a:buClr>
              <a:buSzPts val="1125"/>
              <a:buFont typeface="Arial"/>
              <a:buNone/>
            </a:pPr>
            <a:r>
              <a:rPr b="0" lang="en-US" sz="1125">
                <a:solidFill>
                  <a:srgbClr val="5E6672"/>
                </a:solidFill>
              </a:rPr>
              <a:t>duplicate or outside window</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2" name="Shape 152"/>
        <p:cNvGrpSpPr/>
        <p:nvPr/>
      </p:nvGrpSpPr>
      <p:grpSpPr>
        <a:xfrm>
          <a:off x="0" y="0"/>
          <a:ext cx="0" cy="0"/>
          <a:chOff x="0" y="0"/>
          <a:chExt cx="0" cy="0"/>
        </a:xfrm>
      </p:grpSpPr>
      <p:sp>
        <p:nvSpPr>
          <p:cNvPr id="153" name="Google Shape;153;p7"/>
          <p:cNvSpPr/>
          <p:nvPr/>
        </p:nvSpPr>
        <p:spPr>
          <a:xfrm>
            <a:off x="457200" y="552450"/>
            <a:ext cx="112395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11418"/>
              </a:buClr>
              <a:buSzPts val="2625"/>
              <a:buFont typeface="Arial"/>
              <a:buNone/>
            </a:pPr>
            <a:r>
              <a:rPr b="1" lang="en-US" sz="2625">
                <a:solidFill>
                  <a:srgbClr val="111418"/>
                </a:solidFill>
              </a:rPr>
              <a:t>Wire format and MTU calculation</a:t>
            </a:r>
            <a:endParaRPr/>
          </a:p>
        </p:txBody>
      </p:sp>
      <p:cxnSp>
        <p:nvCxnSpPr>
          <p:cNvPr id="154" name="Google Shape;154;p7"/>
          <p:cNvCxnSpPr/>
          <p:nvPr/>
        </p:nvCxnSpPr>
        <p:spPr>
          <a:xfrm>
            <a:off x="457200" y="1257300"/>
            <a:ext cx="11277600" cy="0"/>
          </a:xfrm>
          <a:prstGeom prst="straightConnector1">
            <a:avLst/>
          </a:prstGeom>
          <a:noFill/>
          <a:ln cap="flat" cmpd="sng" w="9525">
            <a:solidFill>
              <a:srgbClr val="B8BCC4"/>
            </a:solidFill>
            <a:prstDash val="solid"/>
            <a:round/>
            <a:headEnd len="sm" w="sm" type="none"/>
            <a:tailEnd len="sm" w="sm" type="none"/>
          </a:ln>
        </p:spPr>
      </p:cxnSp>
      <p:sp>
        <p:nvSpPr>
          <p:cNvPr id="155" name="Google Shape;155;p7"/>
          <p:cNvSpPr/>
          <p:nvPr/>
        </p:nvSpPr>
        <p:spPr>
          <a:xfrm>
            <a:off x="11001375" y="6429375"/>
            <a:ext cx="733425" cy="1714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5E6672"/>
              </a:buClr>
              <a:buSzPts val="900"/>
              <a:buFont typeface="Arial"/>
              <a:buNone/>
            </a:pPr>
            <a:r>
              <a:rPr b="0" lang="en-US" sz="900">
                <a:solidFill>
                  <a:srgbClr val="5E6672"/>
                </a:solidFill>
              </a:rPr>
              <a:t>· 05</a:t>
            </a:r>
            <a:endParaRPr/>
          </a:p>
        </p:txBody>
      </p:sp>
      <p:graphicFrame>
        <p:nvGraphicFramePr>
          <p:cNvPr id="156" name="Google Shape;156;p7"/>
          <p:cNvGraphicFramePr/>
          <p:nvPr/>
        </p:nvGraphicFramePr>
        <p:xfrm>
          <a:off x="495300" y="1428750"/>
          <a:ext cx="3000000" cy="3000000"/>
        </p:xfrm>
        <a:graphic>
          <a:graphicData uri="http://schemas.openxmlformats.org/drawingml/2006/table">
            <a:tbl>
              <a:tblPr>
                <a:noFill/>
                <a:tableStyleId>{C4A50F8C-3D8D-4114-BDBC-A85F75E777A7}</a:tableStyleId>
              </a:tblPr>
              <a:tblGrid>
                <a:gridCol w="857250"/>
                <a:gridCol w="857250"/>
                <a:gridCol w="2476500"/>
                <a:gridCol w="2286000"/>
              </a:tblGrid>
              <a:tr h="469900">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rPr>
                        <a:t>Offset</a:t>
                      </a:r>
                      <a:endParaRPr/>
                    </a:p>
                  </a:txBody>
                  <a:tcPr marT="38100" marB="38100" marR="47625" marL="47625" anchor="ctr">
                    <a:solidFill>
                      <a:srgbClr val="163A5F"/>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rPr>
                        <a:t>Bytes</a:t>
                      </a:r>
                      <a:endParaRPr/>
                    </a:p>
                  </a:txBody>
                  <a:tcPr marT="38100" marB="38100" marR="47625" marL="47625" anchor="ctr">
                    <a:solidFill>
                      <a:srgbClr val="163A5F"/>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rPr>
                        <a:t>Field</a:t>
                      </a:r>
                      <a:endParaRPr/>
                    </a:p>
                  </a:txBody>
                  <a:tcPr marT="38100" marB="38100" marR="47625" marL="47625" anchor="ctr">
                    <a:solidFill>
                      <a:srgbClr val="163A5F"/>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rPr>
                        <a:t>Validation</a:t>
                      </a:r>
                      <a:endParaRPr/>
                    </a:p>
                  </a:txBody>
                  <a:tcPr marT="38100" marB="38100" marR="47625" marL="47625" anchor="ctr">
                    <a:solidFill>
                      <a:srgbClr val="163A5F"/>
                    </a:solidFill>
                  </a:tcPr>
                </a:tc>
              </a:tr>
              <a:tr h="469900">
                <a:tc>
                  <a:txBody>
                    <a:bodyPr/>
                    <a:lstStyle/>
                    <a:p>
                      <a:pPr indent="0" lvl="0" marL="0" marR="0" rtl="0" algn="l">
                        <a:spcBef>
                          <a:spcPts val="0"/>
                        </a:spcBef>
                        <a:spcAft>
                          <a:spcPts val="0"/>
                        </a:spcAft>
                        <a:buClr>
                          <a:srgbClr val="111418"/>
                        </a:buClr>
                        <a:buSzPts val="1125"/>
                        <a:buFont typeface="Calibri"/>
                        <a:buNone/>
                      </a:pPr>
                      <a:r>
                        <a:rPr b="1" lang="en-US" sz="1125" u="none" cap="none" strike="noStrike">
                          <a:solidFill>
                            <a:srgbClr val="111418"/>
                          </a:solidFill>
                        </a:rPr>
                        <a:t>0</a:t>
                      </a:r>
                      <a:endParaRPr/>
                    </a:p>
                  </a:txBody>
                  <a:tcPr marT="38100" marB="38100" marR="57150" marL="76200" anchor="ctr">
                    <a:solidFill>
                      <a:srgbClr val="F0F2F4"/>
                    </a:solidFill>
                  </a:tcPr>
                </a:tc>
                <a:tc>
                  <a:txBody>
                    <a:bodyPr/>
                    <a:lstStyle/>
                    <a:p>
                      <a:pPr indent="0" lvl="0" marL="0" marR="0" rtl="0" algn="ctr">
                        <a:spcBef>
                          <a:spcPts val="0"/>
                        </a:spcBef>
                        <a:spcAft>
                          <a:spcPts val="0"/>
                        </a:spcAft>
                        <a:buClr>
                          <a:srgbClr val="111418"/>
                        </a:buClr>
                        <a:buSzPts val="1125"/>
                        <a:buFont typeface="Calibri"/>
                        <a:buNone/>
                      </a:pPr>
                      <a:r>
                        <a:rPr lang="en-US" sz="1125" u="none" cap="none" strike="noStrike">
                          <a:solidFill>
                            <a:srgbClr val="111418"/>
                          </a:solidFill>
                        </a:rPr>
                        <a:t>4</a:t>
                      </a:r>
                      <a:endParaRPr/>
                    </a:p>
                  </a:txBody>
                  <a:tcPr marT="38100" marB="38100" marR="57150" marL="57150" anchor="ctr">
                    <a:solidFill>
                      <a:srgbClr val="FFFFFF"/>
                    </a:solidFill>
                  </a:tcPr>
                </a:tc>
                <a:tc>
                  <a:txBody>
                    <a:bodyPr/>
                    <a:lstStyle/>
                    <a:p>
                      <a:pPr indent="0" lvl="0" marL="0" marR="0" rtl="0" algn="ctr">
                        <a:spcBef>
                          <a:spcPts val="0"/>
                        </a:spcBef>
                        <a:spcAft>
                          <a:spcPts val="0"/>
                        </a:spcAft>
                        <a:buClr>
                          <a:srgbClr val="111418"/>
                        </a:buClr>
                        <a:buSzPts val="1125"/>
                        <a:buFont typeface="Calibri"/>
                        <a:buNone/>
                      </a:pPr>
                      <a:r>
                        <a:rPr lang="en-US" sz="1125" u="none" cap="none" strike="noStrike">
                          <a:solidFill>
                            <a:srgbClr val="111418"/>
                          </a:solidFill>
                        </a:rPr>
                        <a:t>magic = SVPN</a:t>
                      </a:r>
                      <a:endParaRPr/>
                    </a:p>
                  </a:txBody>
                  <a:tcPr marT="38100" marB="38100" marR="57150" marL="57150" anchor="ctr">
                    <a:solidFill>
                      <a:srgbClr val="FFFFFF"/>
                    </a:solidFill>
                  </a:tcPr>
                </a:tc>
                <a:tc>
                  <a:txBody>
                    <a:bodyPr/>
                    <a:lstStyle/>
                    <a:p>
                      <a:pPr indent="0" lvl="0" marL="0" marR="0" rtl="0" algn="ctr">
                        <a:spcBef>
                          <a:spcPts val="0"/>
                        </a:spcBef>
                        <a:spcAft>
                          <a:spcPts val="0"/>
                        </a:spcAft>
                        <a:buClr>
                          <a:srgbClr val="111418"/>
                        </a:buClr>
                        <a:buSzPts val="1125"/>
                        <a:buFont typeface="Calibri"/>
                        <a:buNone/>
                      </a:pPr>
                      <a:r>
                        <a:rPr lang="en-US" sz="1125" u="none" cap="none" strike="noStrike">
                          <a:solidFill>
                            <a:srgbClr val="111418"/>
                          </a:solidFill>
                        </a:rPr>
                        <a:t>exact match</a:t>
                      </a:r>
                      <a:endParaRPr/>
                    </a:p>
                  </a:txBody>
                  <a:tcPr marT="38100" marB="38100" marR="57150" marL="57150" anchor="ctr">
                    <a:solidFill>
                      <a:srgbClr val="FFFFFF"/>
                    </a:solidFill>
                  </a:tcPr>
                </a:tc>
              </a:tr>
              <a:tr h="469900">
                <a:tc>
                  <a:txBody>
                    <a:bodyPr/>
                    <a:lstStyle/>
                    <a:p>
                      <a:pPr indent="0" lvl="0" marL="0" marR="0" rtl="0" algn="l">
                        <a:spcBef>
                          <a:spcPts val="0"/>
                        </a:spcBef>
                        <a:spcAft>
                          <a:spcPts val="0"/>
                        </a:spcAft>
                        <a:buClr>
                          <a:srgbClr val="111418"/>
                        </a:buClr>
                        <a:buSzPts val="1125"/>
                        <a:buFont typeface="Calibri"/>
                        <a:buNone/>
                      </a:pPr>
                      <a:r>
                        <a:rPr b="1" lang="en-US" sz="1125" u="none" cap="none" strike="noStrike">
                          <a:solidFill>
                            <a:srgbClr val="111418"/>
                          </a:solidFill>
                        </a:rPr>
                        <a:t>4</a:t>
                      </a:r>
                      <a:endParaRPr/>
                    </a:p>
                  </a:txBody>
                  <a:tcPr marT="38100" marB="38100" marR="57150" marL="76200" anchor="ctr">
                    <a:solidFill>
                      <a:srgbClr val="F0F2F4"/>
                    </a:solidFill>
                  </a:tcPr>
                </a:tc>
                <a:tc>
                  <a:txBody>
                    <a:bodyPr/>
                    <a:lstStyle/>
                    <a:p>
                      <a:pPr indent="0" lvl="0" marL="0" marR="0" rtl="0" algn="ctr">
                        <a:spcBef>
                          <a:spcPts val="0"/>
                        </a:spcBef>
                        <a:spcAft>
                          <a:spcPts val="0"/>
                        </a:spcAft>
                        <a:buClr>
                          <a:srgbClr val="111418"/>
                        </a:buClr>
                        <a:buSzPts val="1125"/>
                        <a:buFont typeface="Calibri"/>
                        <a:buNone/>
                      </a:pPr>
                      <a:r>
                        <a:rPr lang="en-US" sz="1125" u="none" cap="none" strike="noStrike">
                          <a:solidFill>
                            <a:srgbClr val="111418"/>
                          </a:solidFill>
                        </a:rPr>
                        <a:t>1</a:t>
                      </a:r>
                      <a:endParaRPr/>
                    </a:p>
                  </a:txBody>
                  <a:tcPr marT="38100" marB="38100" marR="57150" marL="57150" anchor="ctr">
                    <a:solidFill>
                      <a:srgbClr val="FFFFFF"/>
                    </a:solidFill>
                  </a:tcPr>
                </a:tc>
                <a:tc>
                  <a:txBody>
                    <a:bodyPr/>
                    <a:lstStyle/>
                    <a:p>
                      <a:pPr indent="0" lvl="0" marL="0" marR="0" rtl="0" algn="ctr">
                        <a:spcBef>
                          <a:spcPts val="0"/>
                        </a:spcBef>
                        <a:spcAft>
                          <a:spcPts val="0"/>
                        </a:spcAft>
                        <a:buClr>
                          <a:srgbClr val="111418"/>
                        </a:buClr>
                        <a:buSzPts val="1125"/>
                        <a:buFont typeface="Calibri"/>
                        <a:buNone/>
                      </a:pPr>
                      <a:r>
                        <a:rPr lang="en-US" sz="1125" u="none" cap="none" strike="noStrike">
                          <a:solidFill>
                            <a:srgbClr val="111418"/>
                          </a:solidFill>
                        </a:rPr>
                        <a:t>version = 1</a:t>
                      </a:r>
                      <a:endParaRPr/>
                    </a:p>
                  </a:txBody>
                  <a:tcPr marT="38100" marB="38100" marR="57150" marL="57150" anchor="ctr">
                    <a:solidFill>
                      <a:srgbClr val="FFFFFF"/>
                    </a:solidFill>
                  </a:tcPr>
                </a:tc>
                <a:tc>
                  <a:txBody>
                    <a:bodyPr/>
                    <a:lstStyle/>
                    <a:p>
                      <a:pPr indent="0" lvl="0" marL="0" marR="0" rtl="0" algn="ctr">
                        <a:spcBef>
                          <a:spcPts val="0"/>
                        </a:spcBef>
                        <a:spcAft>
                          <a:spcPts val="0"/>
                        </a:spcAft>
                        <a:buClr>
                          <a:srgbClr val="111418"/>
                        </a:buClr>
                        <a:buSzPts val="1125"/>
                        <a:buFont typeface="Calibri"/>
                        <a:buNone/>
                      </a:pPr>
                      <a:r>
                        <a:rPr lang="en-US" sz="1125" u="none" cap="none" strike="noStrike">
                          <a:solidFill>
                            <a:srgbClr val="111418"/>
                          </a:solidFill>
                        </a:rPr>
                        <a:t>reject other versions</a:t>
                      </a:r>
                      <a:endParaRPr/>
                    </a:p>
                  </a:txBody>
                  <a:tcPr marT="38100" marB="38100" marR="57150" marL="57150" anchor="ctr">
                    <a:solidFill>
                      <a:srgbClr val="FFFFFF"/>
                    </a:solidFill>
                  </a:tcPr>
                </a:tc>
              </a:tr>
              <a:tr h="469900">
                <a:tc>
                  <a:txBody>
                    <a:bodyPr/>
                    <a:lstStyle/>
                    <a:p>
                      <a:pPr indent="0" lvl="0" marL="0" marR="0" rtl="0" algn="l">
                        <a:spcBef>
                          <a:spcPts val="0"/>
                        </a:spcBef>
                        <a:spcAft>
                          <a:spcPts val="0"/>
                        </a:spcAft>
                        <a:buClr>
                          <a:srgbClr val="111418"/>
                        </a:buClr>
                        <a:buSzPts val="1125"/>
                        <a:buFont typeface="Calibri"/>
                        <a:buNone/>
                      </a:pPr>
                      <a:r>
                        <a:rPr b="1" lang="en-US" sz="1125" u="none" cap="none" strike="noStrike">
                          <a:solidFill>
                            <a:srgbClr val="111418"/>
                          </a:solidFill>
                        </a:rPr>
                        <a:t>5</a:t>
                      </a:r>
                      <a:endParaRPr/>
                    </a:p>
                  </a:txBody>
                  <a:tcPr marT="38100" marB="38100" marR="57150" marL="76200" anchor="ctr">
                    <a:solidFill>
                      <a:srgbClr val="F0F2F4"/>
                    </a:solidFill>
                  </a:tcPr>
                </a:tc>
                <a:tc>
                  <a:txBody>
                    <a:bodyPr/>
                    <a:lstStyle/>
                    <a:p>
                      <a:pPr indent="0" lvl="0" marL="0" marR="0" rtl="0" algn="ctr">
                        <a:spcBef>
                          <a:spcPts val="0"/>
                        </a:spcBef>
                        <a:spcAft>
                          <a:spcPts val="0"/>
                        </a:spcAft>
                        <a:buClr>
                          <a:srgbClr val="111418"/>
                        </a:buClr>
                        <a:buSzPts val="1125"/>
                        <a:buFont typeface="Calibri"/>
                        <a:buNone/>
                      </a:pPr>
                      <a:r>
                        <a:rPr lang="en-US" sz="1125" u="none" cap="none" strike="noStrike">
                          <a:solidFill>
                            <a:srgbClr val="111418"/>
                          </a:solidFill>
                        </a:rPr>
                        <a:t>1</a:t>
                      </a:r>
                      <a:endParaRPr/>
                    </a:p>
                  </a:txBody>
                  <a:tcPr marT="38100" marB="38100" marR="57150" marL="57150" anchor="ctr">
                    <a:solidFill>
                      <a:srgbClr val="FFFFFF"/>
                    </a:solidFill>
                  </a:tcPr>
                </a:tc>
                <a:tc>
                  <a:txBody>
                    <a:bodyPr/>
                    <a:lstStyle/>
                    <a:p>
                      <a:pPr indent="0" lvl="0" marL="0" marR="0" rtl="0" algn="ctr">
                        <a:spcBef>
                          <a:spcPts val="0"/>
                        </a:spcBef>
                        <a:spcAft>
                          <a:spcPts val="0"/>
                        </a:spcAft>
                        <a:buClr>
                          <a:srgbClr val="111418"/>
                        </a:buClr>
                        <a:buSzPts val="1125"/>
                        <a:buFont typeface="Calibri"/>
                        <a:buNone/>
                      </a:pPr>
                      <a:r>
                        <a:rPr lang="en-US" sz="1125" u="none" cap="none" strike="noStrike">
                          <a:solidFill>
                            <a:srgbClr val="111418"/>
                          </a:solidFill>
                        </a:rPr>
                        <a:t>type</a:t>
                      </a:r>
                      <a:endParaRPr/>
                    </a:p>
                  </a:txBody>
                  <a:tcPr marT="38100" marB="38100" marR="57150" marL="57150" anchor="ctr">
                    <a:solidFill>
                      <a:srgbClr val="FFFFFF"/>
                    </a:solidFill>
                  </a:tcPr>
                </a:tc>
                <a:tc>
                  <a:txBody>
                    <a:bodyPr/>
                    <a:lstStyle/>
                    <a:p>
                      <a:pPr indent="0" lvl="0" marL="0" marR="0" rtl="0" algn="ctr">
                        <a:spcBef>
                          <a:spcPts val="0"/>
                        </a:spcBef>
                        <a:spcAft>
                          <a:spcPts val="0"/>
                        </a:spcAft>
                        <a:buClr>
                          <a:srgbClr val="111418"/>
                        </a:buClr>
                        <a:buSzPts val="1125"/>
                        <a:buFont typeface="Calibri"/>
                        <a:buNone/>
                      </a:pPr>
                      <a:r>
                        <a:rPr lang="en-US" sz="1125" u="none" cap="none" strike="noStrike">
                          <a:solidFill>
                            <a:srgbClr val="111418"/>
                          </a:solidFill>
                        </a:rPr>
                        <a:t>CHLO / SHLO / DATA / CLOSE</a:t>
                      </a:r>
                      <a:endParaRPr/>
                    </a:p>
                  </a:txBody>
                  <a:tcPr marT="38100" marB="38100" marR="57150" marL="57150" anchor="ctr">
                    <a:solidFill>
                      <a:srgbClr val="FFFFFF"/>
                    </a:solidFill>
                  </a:tcPr>
                </a:tc>
              </a:tr>
              <a:tr h="469900">
                <a:tc>
                  <a:txBody>
                    <a:bodyPr/>
                    <a:lstStyle/>
                    <a:p>
                      <a:pPr indent="0" lvl="0" marL="0" marR="0" rtl="0" algn="l">
                        <a:spcBef>
                          <a:spcPts val="0"/>
                        </a:spcBef>
                        <a:spcAft>
                          <a:spcPts val="0"/>
                        </a:spcAft>
                        <a:buClr>
                          <a:srgbClr val="111418"/>
                        </a:buClr>
                        <a:buSzPts val="1125"/>
                        <a:buFont typeface="Calibri"/>
                        <a:buNone/>
                      </a:pPr>
                      <a:r>
                        <a:rPr b="1" lang="en-US" sz="1125" u="none" cap="none" strike="noStrike">
                          <a:solidFill>
                            <a:srgbClr val="111418"/>
                          </a:solidFill>
                        </a:rPr>
                        <a:t>6</a:t>
                      </a:r>
                      <a:endParaRPr/>
                    </a:p>
                  </a:txBody>
                  <a:tcPr marT="38100" marB="38100" marR="57150" marL="76200" anchor="ctr">
                    <a:solidFill>
                      <a:srgbClr val="F0F2F4"/>
                    </a:solidFill>
                  </a:tcPr>
                </a:tc>
                <a:tc>
                  <a:txBody>
                    <a:bodyPr/>
                    <a:lstStyle/>
                    <a:p>
                      <a:pPr indent="0" lvl="0" marL="0" marR="0" rtl="0" algn="ctr">
                        <a:spcBef>
                          <a:spcPts val="0"/>
                        </a:spcBef>
                        <a:spcAft>
                          <a:spcPts val="0"/>
                        </a:spcAft>
                        <a:buClr>
                          <a:srgbClr val="111418"/>
                        </a:buClr>
                        <a:buSzPts val="1125"/>
                        <a:buFont typeface="Calibri"/>
                        <a:buNone/>
                      </a:pPr>
                      <a:r>
                        <a:rPr lang="en-US" sz="1125" u="none" cap="none" strike="noStrike">
                          <a:solidFill>
                            <a:srgbClr val="111418"/>
                          </a:solidFill>
                        </a:rPr>
                        <a:t>2</a:t>
                      </a:r>
                      <a:endParaRPr/>
                    </a:p>
                  </a:txBody>
                  <a:tcPr marT="38100" marB="38100" marR="57150" marL="57150" anchor="ctr">
                    <a:solidFill>
                      <a:srgbClr val="FFFFFF"/>
                    </a:solidFill>
                  </a:tcPr>
                </a:tc>
                <a:tc>
                  <a:txBody>
                    <a:bodyPr/>
                    <a:lstStyle/>
                    <a:p>
                      <a:pPr indent="0" lvl="0" marL="0" marR="0" rtl="0" algn="ctr">
                        <a:spcBef>
                          <a:spcPts val="0"/>
                        </a:spcBef>
                        <a:spcAft>
                          <a:spcPts val="0"/>
                        </a:spcAft>
                        <a:buClr>
                          <a:srgbClr val="111418"/>
                        </a:buClr>
                        <a:buSzPts val="1125"/>
                        <a:buFont typeface="Calibri"/>
                        <a:buNone/>
                      </a:pPr>
                      <a:r>
                        <a:rPr lang="en-US" sz="1125" u="none" cap="none" strike="noStrike">
                          <a:solidFill>
                            <a:srgbClr val="111418"/>
                          </a:solidFill>
                        </a:rPr>
                        <a:t>flags</a:t>
                      </a:r>
                      <a:endParaRPr/>
                    </a:p>
                  </a:txBody>
                  <a:tcPr marT="38100" marB="38100" marR="57150" marL="57150" anchor="ctr">
                    <a:solidFill>
                      <a:srgbClr val="FFFFFF"/>
                    </a:solidFill>
                  </a:tcPr>
                </a:tc>
                <a:tc>
                  <a:txBody>
                    <a:bodyPr/>
                    <a:lstStyle/>
                    <a:p>
                      <a:pPr indent="0" lvl="0" marL="0" marR="0" rtl="0" algn="ctr">
                        <a:spcBef>
                          <a:spcPts val="0"/>
                        </a:spcBef>
                        <a:spcAft>
                          <a:spcPts val="0"/>
                        </a:spcAft>
                        <a:buClr>
                          <a:srgbClr val="111418"/>
                        </a:buClr>
                        <a:buSzPts val="1125"/>
                        <a:buFont typeface="Calibri"/>
                        <a:buNone/>
                      </a:pPr>
                      <a:r>
                        <a:rPr lang="en-US" sz="1125" u="none" cap="none" strike="noStrike">
                          <a:solidFill>
                            <a:srgbClr val="111418"/>
                          </a:solidFill>
                        </a:rPr>
                        <a:t>must be zero</a:t>
                      </a:r>
                      <a:endParaRPr/>
                    </a:p>
                  </a:txBody>
                  <a:tcPr marT="38100" marB="38100" marR="57150" marL="57150" anchor="ctr">
                    <a:solidFill>
                      <a:srgbClr val="FFFFFF"/>
                    </a:solidFill>
                  </a:tcPr>
                </a:tc>
              </a:tr>
              <a:tr h="469900">
                <a:tc>
                  <a:txBody>
                    <a:bodyPr/>
                    <a:lstStyle/>
                    <a:p>
                      <a:pPr indent="0" lvl="0" marL="0" marR="0" rtl="0" algn="l">
                        <a:spcBef>
                          <a:spcPts val="0"/>
                        </a:spcBef>
                        <a:spcAft>
                          <a:spcPts val="0"/>
                        </a:spcAft>
                        <a:buClr>
                          <a:srgbClr val="111418"/>
                        </a:buClr>
                        <a:buSzPts val="1125"/>
                        <a:buFont typeface="Calibri"/>
                        <a:buNone/>
                      </a:pPr>
                      <a:r>
                        <a:rPr b="1" lang="en-US" sz="1125" u="none" cap="none" strike="noStrike">
                          <a:solidFill>
                            <a:srgbClr val="111418"/>
                          </a:solidFill>
                        </a:rPr>
                        <a:t>8</a:t>
                      </a:r>
                      <a:endParaRPr/>
                    </a:p>
                  </a:txBody>
                  <a:tcPr marT="38100" marB="38100" marR="57150" marL="76200" anchor="ctr">
                    <a:solidFill>
                      <a:srgbClr val="F0F2F4"/>
                    </a:solidFill>
                  </a:tcPr>
                </a:tc>
                <a:tc>
                  <a:txBody>
                    <a:bodyPr/>
                    <a:lstStyle/>
                    <a:p>
                      <a:pPr indent="0" lvl="0" marL="0" marR="0" rtl="0" algn="ctr">
                        <a:spcBef>
                          <a:spcPts val="0"/>
                        </a:spcBef>
                        <a:spcAft>
                          <a:spcPts val="0"/>
                        </a:spcAft>
                        <a:buClr>
                          <a:srgbClr val="111418"/>
                        </a:buClr>
                        <a:buSzPts val="1125"/>
                        <a:buFont typeface="Calibri"/>
                        <a:buNone/>
                      </a:pPr>
                      <a:r>
                        <a:rPr lang="en-US" sz="1125" u="none" cap="none" strike="noStrike">
                          <a:solidFill>
                            <a:srgbClr val="111418"/>
                          </a:solidFill>
                        </a:rPr>
                        <a:t>8</a:t>
                      </a:r>
                      <a:endParaRPr/>
                    </a:p>
                  </a:txBody>
                  <a:tcPr marT="38100" marB="38100" marR="57150" marL="57150" anchor="ctr">
                    <a:solidFill>
                      <a:srgbClr val="FFFFFF"/>
                    </a:solidFill>
                  </a:tcPr>
                </a:tc>
                <a:tc>
                  <a:txBody>
                    <a:bodyPr/>
                    <a:lstStyle/>
                    <a:p>
                      <a:pPr indent="0" lvl="0" marL="0" marR="0" rtl="0" algn="ctr">
                        <a:spcBef>
                          <a:spcPts val="0"/>
                        </a:spcBef>
                        <a:spcAft>
                          <a:spcPts val="0"/>
                        </a:spcAft>
                        <a:buClr>
                          <a:srgbClr val="111418"/>
                        </a:buClr>
                        <a:buSzPts val="1125"/>
                        <a:buFont typeface="Calibri"/>
                        <a:buNone/>
                      </a:pPr>
                      <a:r>
                        <a:rPr lang="en-US" sz="1125" u="none" cap="none" strike="noStrike">
                          <a:solidFill>
                            <a:srgbClr val="111418"/>
                          </a:solidFill>
                        </a:rPr>
                        <a:t>session_id</a:t>
                      </a:r>
                      <a:endParaRPr/>
                    </a:p>
                  </a:txBody>
                  <a:tcPr marT="38100" marB="38100" marR="57150" marL="57150" anchor="ctr">
                    <a:solidFill>
                      <a:srgbClr val="FFFFFF"/>
                    </a:solidFill>
                  </a:tcPr>
                </a:tc>
                <a:tc>
                  <a:txBody>
                    <a:bodyPr/>
                    <a:lstStyle/>
                    <a:p>
                      <a:pPr indent="0" lvl="0" marL="0" marR="0" rtl="0" algn="ctr">
                        <a:spcBef>
                          <a:spcPts val="0"/>
                        </a:spcBef>
                        <a:spcAft>
                          <a:spcPts val="0"/>
                        </a:spcAft>
                        <a:buClr>
                          <a:srgbClr val="111418"/>
                        </a:buClr>
                        <a:buSzPts val="1125"/>
                        <a:buFont typeface="Calibri"/>
                        <a:buNone/>
                      </a:pPr>
                      <a:r>
                        <a:rPr lang="en-US" sz="1125" u="none" cap="none" strike="noStrike">
                          <a:solidFill>
                            <a:srgbClr val="111418"/>
                          </a:solidFill>
                        </a:rPr>
                        <a:t>must match encrypted session</a:t>
                      </a:r>
                      <a:endParaRPr/>
                    </a:p>
                  </a:txBody>
                  <a:tcPr marT="38100" marB="38100" marR="57150" marL="57150" anchor="ctr">
                    <a:solidFill>
                      <a:srgbClr val="FFFFFF"/>
                    </a:solidFill>
                  </a:tcPr>
                </a:tc>
              </a:tr>
              <a:tr h="469900">
                <a:tc>
                  <a:txBody>
                    <a:bodyPr/>
                    <a:lstStyle/>
                    <a:p>
                      <a:pPr indent="0" lvl="0" marL="0" marR="0" rtl="0" algn="l">
                        <a:spcBef>
                          <a:spcPts val="0"/>
                        </a:spcBef>
                        <a:spcAft>
                          <a:spcPts val="0"/>
                        </a:spcAft>
                        <a:buClr>
                          <a:srgbClr val="111418"/>
                        </a:buClr>
                        <a:buSzPts val="1125"/>
                        <a:buFont typeface="Calibri"/>
                        <a:buNone/>
                      </a:pPr>
                      <a:r>
                        <a:rPr b="1" lang="en-US" sz="1125" u="none" cap="none" strike="noStrike">
                          <a:solidFill>
                            <a:srgbClr val="111418"/>
                          </a:solidFill>
                        </a:rPr>
                        <a:t>16</a:t>
                      </a:r>
                      <a:endParaRPr/>
                    </a:p>
                  </a:txBody>
                  <a:tcPr marT="38100" marB="38100" marR="57150" marL="76200" anchor="ctr">
                    <a:solidFill>
                      <a:srgbClr val="F0F2F4"/>
                    </a:solidFill>
                  </a:tcPr>
                </a:tc>
                <a:tc>
                  <a:txBody>
                    <a:bodyPr/>
                    <a:lstStyle/>
                    <a:p>
                      <a:pPr indent="0" lvl="0" marL="0" marR="0" rtl="0" algn="ctr">
                        <a:spcBef>
                          <a:spcPts val="0"/>
                        </a:spcBef>
                        <a:spcAft>
                          <a:spcPts val="0"/>
                        </a:spcAft>
                        <a:buClr>
                          <a:srgbClr val="111418"/>
                        </a:buClr>
                        <a:buSzPts val="1125"/>
                        <a:buFont typeface="Calibri"/>
                        <a:buNone/>
                      </a:pPr>
                      <a:r>
                        <a:rPr lang="en-US" sz="1125" u="none" cap="none" strike="noStrike">
                          <a:solidFill>
                            <a:srgbClr val="111418"/>
                          </a:solidFill>
                        </a:rPr>
                        <a:t>8</a:t>
                      </a:r>
                      <a:endParaRPr/>
                    </a:p>
                  </a:txBody>
                  <a:tcPr marT="38100" marB="38100" marR="57150" marL="57150" anchor="ctr">
                    <a:solidFill>
                      <a:srgbClr val="FFFFFF"/>
                    </a:solidFill>
                  </a:tcPr>
                </a:tc>
                <a:tc>
                  <a:txBody>
                    <a:bodyPr/>
                    <a:lstStyle/>
                    <a:p>
                      <a:pPr indent="0" lvl="0" marL="0" marR="0" rtl="0" algn="ctr">
                        <a:spcBef>
                          <a:spcPts val="0"/>
                        </a:spcBef>
                        <a:spcAft>
                          <a:spcPts val="0"/>
                        </a:spcAft>
                        <a:buClr>
                          <a:srgbClr val="111418"/>
                        </a:buClr>
                        <a:buSzPts val="1125"/>
                        <a:buFont typeface="Calibri"/>
                        <a:buNone/>
                      </a:pPr>
                      <a:r>
                        <a:rPr lang="en-US" sz="1125" u="none" cap="none" strike="noStrike">
                          <a:solidFill>
                            <a:srgbClr val="111418"/>
                          </a:solidFill>
                        </a:rPr>
                        <a:t>sequence</a:t>
                      </a:r>
                      <a:endParaRPr/>
                    </a:p>
                  </a:txBody>
                  <a:tcPr marT="38100" marB="38100" marR="57150" marL="57150" anchor="ctr">
                    <a:solidFill>
                      <a:srgbClr val="FFFFFF"/>
                    </a:solidFill>
                  </a:tcPr>
                </a:tc>
                <a:tc>
                  <a:txBody>
                    <a:bodyPr/>
                    <a:lstStyle/>
                    <a:p>
                      <a:pPr indent="0" lvl="0" marL="0" marR="0" rtl="0" algn="ctr">
                        <a:spcBef>
                          <a:spcPts val="0"/>
                        </a:spcBef>
                        <a:spcAft>
                          <a:spcPts val="0"/>
                        </a:spcAft>
                        <a:buClr>
                          <a:srgbClr val="111418"/>
                        </a:buClr>
                        <a:buSzPts val="1125"/>
                        <a:buFont typeface="Calibri"/>
                        <a:buNone/>
                      </a:pPr>
                      <a:r>
                        <a:rPr lang="en-US" sz="1125" u="none" cap="none" strike="noStrike">
                          <a:solidFill>
                            <a:srgbClr val="111418"/>
                          </a:solidFill>
                        </a:rPr>
                        <a:t>big-endian; starts at 1</a:t>
                      </a:r>
                      <a:endParaRPr/>
                    </a:p>
                  </a:txBody>
                  <a:tcPr marT="38100" marB="38100" marR="57150" marL="57150" anchor="ctr">
                    <a:solidFill>
                      <a:srgbClr val="FFFFFF"/>
                    </a:solidFill>
                  </a:tcPr>
                </a:tc>
              </a:tr>
              <a:tr h="469900">
                <a:tc>
                  <a:txBody>
                    <a:bodyPr/>
                    <a:lstStyle/>
                    <a:p>
                      <a:pPr indent="0" lvl="0" marL="0" marR="0" rtl="0" algn="l">
                        <a:spcBef>
                          <a:spcPts val="0"/>
                        </a:spcBef>
                        <a:spcAft>
                          <a:spcPts val="0"/>
                        </a:spcAft>
                        <a:buClr>
                          <a:srgbClr val="111418"/>
                        </a:buClr>
                        <a:buSzPts val="1125"/>
                        <a:buFont typeface="Calibri"/>
                        <a:buNone/>
                      </a:pPr>
                      <a:r>
                        <a:rPr b="1" lang="en-US" sz="1125" u="none" cap="none" strike="noStrike">
                          <a:solidFill>
                            <a:srgbClr val="111418"/>
                          </a:solidFill>
                        </a:rPr>
                        <a:t>24</a:t>
                      </a:r>
                      <a:endParaRPr/>
                    </a:p>
                  </a:txBody>
                  <a:tcPr marT="38100" marB="38100" marR="57150" marL="76200" anchor="ctr">
                    <a:solidFill>
                      <a:srgbClr val="F0F2F4"/>
                    </a:solidFill>
                  </a:tcPr>
                </a:tc>
                <a:tc>
                  <a:txBody>
                    <a:bodyPr/>
                    <a:lstStyle/>
                    <a:p>
                      <a:pPr indent="0" lvl="0" marL="0" marR="0" rtl="0" algn="ctr">
                        <a:spcBef>
                          <a:spcPts val="0"/>
                        </a:spcBef>
                        <a:spcAft>
                          <a:spcPts val="0"/>
                        </a:spcAft>
                        <a:buClr>
                          <a:srgbClr val="111418"/>
                        </a:buClr>
                        <a:buSzPts val="1125"/>
                        <a:buFont typeface="Calibri"/>
                        <a:buNone/>
                      </a:pPr>
                      <a:r>
                        <a:rPr lang="en-US" sz="1125" u="none" cap="none" strike="noStrike">
                          <a:solidFill>
                            <a:srgbClr val="111418"/>
                          </a:solidFill>
                        </a:rPr>
                        <a:t>2</a:t>
                      </a:r>
                      <a:endParaRPr/>
                    </a:p>
                  </a:txBody>
                  <a:tcPr marT="38100" marB="38100" marR="57150" marL="57150" anchor="ctr">
                    <a:solidFill>
                      <a:srgbClr val="FFFFFF"/>
                    </a:solidFill>
                  </a:tcPr>
                </a:tc>
                <a:tc>
                  <a:txBody>
                    <a:bodyPr/>
                    <a:lstStyle/>
                    <a:p>
                      <a:pPr indent="0" lvl="0" marL="0" marR="0" rtl="0" algn="ctr">
                        <a:spcBef>
                          <a:spcPts val="0"/>
                        </a:spcBef>
                        <a:spcAft>
                          <a:spcPts val="0"/>
                        </a:spcAft>
                        <a:buClr>
                          <a:srgbClr val="111418"/>
                        </a:buClr>
                        <a:buSzPts val="1125"/>
                        <a:buFont typeface="Calibri"/>
                        <a:buNone/>
                      </a:pPr>
                      <a:r>
                        <a:rPr lang="en-US" sz="1125" u="none" cap="none" strike="noStrike">
                          <a:solidFill>
                            <a:srgbClr val="111418"/>
                          </a:solidFill>
                        </a:rPr>
                        <a:t>plaintext_len</a:t>
                      </a:r>
                      <a:endParaRPr/>
                    </a:p>
                  </a:txBody>
                  <a:tcPr marT="38100" marB="38100" marR="57150" marL="57150" anchor="ctr">
                    <a:solidFill>
                      <a:srgbClr val="FFFFFF"/>
                    </a:solidFill>
                  </a:tcPr>
                </a:tc>
                <a:tc>
                  <a:txBody>
                    <a:bodyPr/>
                    <a:lstStyle/>
                    <a:p>
                      <a:pPr indent="0" lvl="0" marL="0" marR="0" rtl="0" algn="ctr">
                        <a:spcBef>
                          <a:spcPts val="0"/>
                        </a:spcBef>
                        <a:spcAft>
                          <a:spcPts val="0"/>
                        </a:spcAft>
                        <a:buClr>
                          <a:srgbClr val="111418"/>
                        </a:buClr>
                        <a:buSzPts val="1125"/>
                        <a:buFont typeface="Calibri"/>
                        <a:buNone/>
                      </a:pPr>
                      <a:r>
                        <a:rPr lang="en-US" sz="1125" u="none" cap="none" strike="noStrike">
                          <a:solidFill>
                            <a:srgbClr val="111418"/>
                          </a:solidFill>
                        </a:rPr>
                        <a:t>1–1400 for DATA</a:t>
                      </a:r>
                      <a:endParaRPr/>
                    </a:p>
                  </a:txBody>
                  <a:tcPr marT="38100" marB="38100" marR="57150" marL="57150" anchor="ctr">
                    <a:solidFill>
                      <a:srgbClr val="FFFFFF"/>
                    </a:solidFill>
                  </a:tcPr>
                </a:tc>
              </a:tr>
              <a:tr h="469900">
                <a:tc>
                  <a:txBody>
                    <a:bodyPr/>
                    <a:lstStyle/>
                    <a:p>
                      <a:pPr indent="0" lvl="0" marL="0" marR="0" rtl="0" algn="l">
                        <a:spcBef>
                          <a:spcPts val="0"/>
                        </a:spcBef>
                        <a:spcAft>
                          <a:spcPts val="0"/>
                        </a:spcAft>
                        <a:buClr>
                          <a:srgbClr val="111418"/>
                        </a:buClr>
                        <a:buSzPts val="1125"/>
                        <a:buFont typeface="Calibri"/>
                        <a:buNone/>
                      </a:pPr>
                      <a:r>
                        <a:rPr b="1" lang="en-US" sz="1125" u="none" cap="none" strike="noStrike">
                          <a:solidFill>
                            <a:srgbClr val="111418"/>
                          </a:solidFill>
                        </a:rPr>
                        <a:t>26</a:t>
                      </a:r>
                      <a:endParaRPr/>
                    </a:p>
                  </a:txBody>
                  <a:tcPr marT="38100" marB="38100" marR="57150" marL="76200" anchor="ctr">
                    <a:solidFill>
                      <a:srgbClr val="F0F2F4"/>
                    </a:solidFill>
                  </a:tcPr>
                </a:tc>
                <a:tc>
                  <a:txBody>
                    <a:bodyPr/>
                    <a:lstStyle/>
                    <a:p>
                      <a:pPr indent="0" lvl="0" marL="0" marR="0" rtl="0" algn="ctr">
                        <a:spcBef>
                          <a:spcPts val="0"/>
                        </a:spcBef>
                        <a:spcAft>
                          <a:spcPts val="0"/>
                        </a:spcAft>
                        <a:buClr>
                          <a:srgbClr val="111418"/>
                        </a:buClr>
                        <a:buSzPts val="1125"/>
                        <a:buFont typeface="Calibri"/>
                        <a:buNone/>
                      </a:pPr>
                      <a:r>
                        <a:rPr lang="en-US" sz="1125" u="none" cap="none" strike="noStrike">
                          <a:solidFill>
                            <a:srgbClr val="111418"/>
                          </a:solidFill>
                        </a:rPr>
                        <a:t>2</a:t>
                      </a:r>
                      <a:endParaRPr/>
                    </a:p>
                  </a:txBody>
                  <a:tcPr marT="38100" marB="38100" marR="57150" marL="57150" anchor="ctr">
                    <a:solidFill>
                      <a:srgbClr val="FFFFFF"/>
                    </a:solidFill>
                  </a:tcPr>
                </a:tc>
                <a:tc>
                  <a:txBody>
                    <a:bodyPr/>
                    <a:lstStyle/>
                    <a:p>
                      <a:pPr indent="0" lvl="0" marL="0" marR="0" rtl="0" algn="ctr">
                        <a:spcBef>
                          <a:spcPts val="0"/>
                        </a:spcBef>
                        <a:spcAft>
                          <a:spcPts val="0"/>
                        </a:spcAft>
                        <a:buClr>
                          <a:srgbClr val="111418"/>
                        </a:buClr>
                        <a:buSzPts val="1125"/>
                        <a:buFont typeface="Calibri"/>
                        <a:buNone/>
                      </a:pPr>
                      <a:r>
                        <a:rPr lang="en-US" sz="1125" u="none" cap="none" strike="noStrike">
                          <a:solidFill>
                            <a:srgbClr val="111418"/>
                          </a:solidFill>
                        </a:rPr>
                        <a:t>reserved</a:t>
                      </a:r>
                      <a:endParaRPr/>
                    </a:p>
                  </a:txBody>
                  <a:tcPr marT="38100" marB="38100" marR="57150" marL="57150" anchor="ctr">
                    <a:solidFill>
                      <a:srgbClr val="FFFFFF"/>
                    </a:solidFill>
                  </a:tcPr>
                </a:tc>
                <a:tc>
                  <a:txBody>
                    <a:bodyPr/>
                    <a:lstStyle/>
                    <a:p>
                      <a:pPr indent="0" lvl="0" marL="0" marR="0" rtl="0" algn="ctr">
                        <a:spcBef>
                          <a:spcPts val="0"/>
                        </a:spcBef>
                        <a:spcAft>
                          <a:spcPts val="0"/>
                        </a:spcAft>
                        <a:buClr>
                          <a:srgbClr val="111418"/>
                        </a:buClr>
                        <a:buSzPts val="1125"/>
                        <a:buFont typeface="Calibri"/>
                        <a:buNone/>
                      </a:pPr>
                      <a:r>
                        <a:rPr lang="en-US" sz="1125" u="none" cap="none" strike="noStrike">
                          <a:solidFill>
                            <a:srgbClr val="111418"/>
                          </a:solidFill>
                        </a:rPr>
                        <a:t>must be zero</a:t>
                      </a:r>
                      <a:endParaRPr/>
                    </a:p>
                  </a:txBody>
                  <a:tcPr marT="38100" marB="38100" marR="57150" marL="57150" anchor="ctr">
                    <a:solidFill>
                      <a:srgbClr val="FFFFFF"/>
                    </a:solidFill>
                  </a:tcPr>
                </a:tc>
              </a:tr>
            </a:tbl>
          </a:graphicData>
        </a:graphic>
      </p:graphicFrame>
      <p:sp>
        <p:nvSpPr>
          <p:cNvPr id="157" name="Google Shape;157;p7"/>
          <p:cNvSpPr/>
          <p:nvPr/>
        </p:nvSpPr>
        <p:spPr>
          <a:xfrm>
            <a:off x="7372350" y="1447800"/>
            <a:ext cx="3810000" cy="209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D8DFF"/>
              </a:buClr>
              <a:buSzPts val="1050"/>
              <a:buFont typeface="Arial"/>
              <a:buNone/>
            </a:pPr>
            <a:r>
              <a:rPr b="1" lang="en-US" sz="1050">
                <a:solidFill>
                  <a:srgbClr val="3D8DFF"/>
                </a:solidFill>
              </a:rPr>
              <a:t>ENCRYPTED DATA DATAGRAM</a:t>
            </a:r>
            <a:endParaRPr/>
          </a:p>
        </p:txBody>
      </p:sp>
      <p:sp>
        <p:nvSpPr>
          <p:cNvPr id="158" name="Google Shape;158;p7"/>
          <p:cNvSpPr/>
          <p:nvPr/>
        </p:nvSpPr>
        <p:spPr>
          <a:xfrm>
            <a:off x="7372350" y="1809750"/>
            <a:ext cx="1524000" cy="838200"/>
          </a:xfrm>
          <a:prstGeom prst="roundRect">
            <a:avLst>
              <a:gd fmla="val 4545" name="adj"/>
            </a:avLst>
          </a:prstGeom>
          <a:solidFill>
            <a:srgbClr val="3D8D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7"/>
          <p:cNvSpPr/>
          <p:nvPr/>
        </p:nvSpPr>
        <p:spPr>
          <a:xfrm>
            <a:off x="8896350" y="1809750"/>
            <a:ext cx="2000250" cy="838200"/>
          </a:xfrm>
          <a:prstGeom prst="roundRect">
            <a:avLst>
              <a:gd fmla="val 4545" name="adj"/>
            </a:avLst>
          </a:prstGeom>
          <a:solidFill>
            <a:srgbClr val="163A5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7"/>
          <p:cNvSpPr/>
          <p:nvPr/>
        </p:nvSpPr>
        <p:spPr>
          <a:xfrm>
            <a:off x="10896600" y="1809750"/>
            <a:ext cx="781050" cy="838200"/>
          </a:xfrm>
          <a:prstGeom prst="roundRect">
            <a:avLst>
              <a:gd fmla="val 4878" name="adj"/>
            </a:avLst>
          </a:prstGeom>
          <a:solidFill>
            <a:srgbClr val="16876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7"/>
          <p:cNvSpPr/>
          <p:nvPr/>
        </p:nvSpPr>
        <p:spPr>
          <a:xfrm>
            <a:off x="7429500" y="1981200"/>
            <a:ext cx="14097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25"/>
              <a:buFont typeface="Arial"/>
              <a:buNone/>
            </a:pPr>
            <a:r>
              <a:rPr b="1" lang="en-US" sz="1425">
                <a:solidFill>
                  <a:srgbClr val="FFFFFF"/>
                </a:solidFill>
              </a:rPr>
              <a:t>Header</a:t>
            </a:r>
            <a:endParaRPr/>
          </a:p>
          <a:p>
            <a:pPr indent="0" lvl="0" marL="0" marR="0" rtl="0" algn="ctr">
              <a:spcBef>
                <a:spcPts val="0"/>
              </a:spcBef>
              <a:spcAft>
                <a:spcPts val="0"/>
              </a:spcAft>
              <a:buClr>
                <a:srgbClr val="FFFFFF"/>
              </a:buClr>
              <a:buSzPts val="1425"/>
              <a:buFont typeface="Arial"/>
              <a:buNone/>
            </a:pPr>
            <a:r>
              <a:rPr b="1" lang="en-US" sz="1425">
                <a:solidFill>
                  <a:srgbClr val="FFFFFF"/>
                </a:solidFill>
              </a:rPr>
              <a:t>28 B AAD</a:t>
            </a:r>
            <a:endParaRPr/>
          </a:p>
        </p:txBody>
      </p:sp>
      <p:sp>
        <p:nvSpPr>
          <p:cNvPr id="162" name="Google Shape;162;p7"/>
          <p:cNvSpPr/>
          <p:nvPr/>
        </p:nvSpPr>
        <p:spPr>
          <a:xfrm>
            <a:off x="8972550" y="1943100"/>
            <a:ext cx="1847850" cy="55245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75"/>
              <a:buFont typeface="Arial"/>
              <a:buNone/>
            </a:pPr>
            <a:r>
              <a:rPr b="1" lang="en-US" sz="1275">
                <a:solidFill>
                  <a:srgbClr val="FFFFFF"/>
                </a:solidFill>
              </a:rPr>
              <a:t>Inner IP ciphertext</a:t>
            </a:r>
            <a:endParaRPr/>
          </a:p>
          <a:p>
            <a:pPr indent="0" lvl="0" marL="0" marR="0" rtl="0" algn="ctr">
              <a:spcBef>
                <a:spcPts val="0"/>
              </a:spcBef>
              <a:spcAft>
                <a:spcPts val="0"/>
              </a:spcAft>
              <a:buClr>
                <a:srgbClr val="FFFFFF"/>
              </a:buClr>
              <a:buSzPts val="1275"/>
              <a:buFont typeface="Arial"/>
              <a:buNone/>
            </a:pPr>
            <a:r>
              <a:rPr b="1" lang="en-US" sz="1275">
                <a:solidFill>
                  <a:srgbClr val="FFFFFF"/>
                </a:solidFill>
              </a:rPr>
              <a:t>plaintext_len B</a:t>
            </a:r>
            <a:endParaRPr/>
          </a:p>
        </p:txBody>
      </p:sp>
      <p:sp>
        <p:nvSpPr>
          <p:cNvPr id="163" name="Google Shape;163;p7"/>
          <p:cNvSpPr/>
          <p:nvPr/>
        </p:nvSpPr>
        <p:spPr>
          <a:xfrm>
            <a:off x="10953750" y="1981200"/>
            <a:ext cx="66675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75"/>
              <a:buFont typeface="Arial"/>
              <a:buNone/>
            </a:pPr>
            <a:r>
              <a:rPr b="1" lang="en-US" sz="1275">
                <a:solidFill>
                  <a:srgbClr val="FFFFFF"/>
                </a:solidFill>
              </a:rPr>
              <a:t>Tag</a:t>
            </a:r>
            <a:endParaRPr/>
          </a:p>
          <a:p>
            <a:pPr indent="0" lvl="0" marL="0" marR="0" rtl="0" algn="ctr">
              <a:spcBef>
                <a:spcPts val="0"/>
              </a:spcBef>
              <a:spcAft>
                <a:spcPts val="0"/>
              </a:spcAft>
              <a:buClr>
                <a:srgbClr val="FFFFFF"/>
              </a:buClr>
              <a:buSzPts val="1275"/>
              <a:buFont typeface="Arial"/>
              <a:buNone/>
            </a:pPr>
            <a:r>
              <a:rPr b="1" lang="en-US" sz="1275">
                <a:solidFill>
                  <a:srgbClr val="FFFFFF"/>
                </a:solidFill>
              </a:rPr>
              <a:t>16 B</a:t>
            </a:r>
            <a:endParaRPr/>
          </a:p>
        </p:txBody>
      </p:sp>
      <p:sp>
        <p:nvSpPr>
          <p:cNvPr id="164" name="Google Shape;164;p7"/>
          <p:cNvSpPr/>
          <p:nvPr/>
        </p:nvSpPr>
        <p:spPr>
          <a:xfrm>
            <a:off x="7372350" y="2895600"/>
            <a:ext cx="4305300" cy="762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11418"/>
              </a:buClr>
              <a:buSzPts val="1350"/>
              <a:buFont typeface="Arial"/>
              <a:buNone/>
            </a:pPr>
            <a:r>
              <a:rPr b="0" lang="en-US" sz="1350">
                <a:solidFill>
                  <a:srgbClr val="111418"/>
                </a:solidFill>
              </a:rPr>
              <a:t>Body length must be exact. Zero-length DATA, payloads above 1400 bytes, and trailing bytes are rejected.</a:t>
            </a:r>
            <a:endParaRPr/>
          </a:p>
        </p:txBody>
      </p:sp>
      <p:sp>
        <p:nvSpPr>
          <p:cNvPr id="165" name="Google Shape;165;p7"/>
          <p:cNvSpPr/>
          <p:nvPr/>
        </p:nvSpPr>
        <p:spPr>
          <a:xfrm>
            <a:off x="7372350" y="3962400"/>
            <a:ext cx="4305300" cy="209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6876F"/>
              </a:buClr>
              <a:buSzPts val="1050"/>
              <a:buFont typeface="Arial"/>
              <a:buNone/>
            </a:pPr>
            <a:r>
              <a:rPr b="1" lang="en-US" sz="1050">
                <a:solidFill>
                  <a:srgbClr val="16876F"/>
                </a:solidFill>
              </a:rPr>
              <a:t>OUTER IPv4 SIZE AT MAXIMUM INNER MTU</a:t>
            </a:r>
            <a:endParaRPr/>
          </a:p>
        </p:txBody>
      </p:sp>
      <p:sp>
        <p:nvSpPr>
          <p:cNvPr id="166" name="Google Shape;166;p7"/>
          <p:cNvSpPr/>
          <p:nvPr/>
        </p:nvSpPr>
        <p:spPr>
          <a:xfrm>
            <a:off x="7372350" y="4343400"/>
            <a:ext cx="4305300" cy="55245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111418"/>
              </a:buClr>
              <a:buSzPts val="1800"/>
              <a:buFont typeface="Arial"/>
              <a:buNone/>
            </a:pPr>
            <a:r>
              <a:rPr b="1" lang="en-US" sz="1800">
                <a:solidFill>
                  <a:srgbClr val="111418"/>
                </a:solidFill>
              </a:rPr>
              <a:t>1400 + 28 + 16 + 8 + 20 = 1472 bytes</a:t>
            </a:r>
            <a:endParaRPr/>
          </a:p>
        </p:txBody>
      </p:sp>
      <p:sp>
        <p:nvSpPr>
          <p:cNvPr id="167" name="Google Shape;167;p7"/>
          <p:cNvSpPr/>
          <p:nvPr/>
        </p:nvSpPr>
        <p:spPr>
          <a:xfrm>
            <a:off x="7372350" y="5048250"/>
            <a:ext cx="4305300" cy="55245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5E6672"/>
              </a:buClr>
              <a:buSzPts val="1350"/>
              <a:buFont typeface="Arial"/>
              <a:buNone/>
            </a:pPr>
            <a:r>
              <a:rPr b="0" lang="en-US" sz="1350">
                <a:solidFill>
                  <a:srgbClr val="5E6672"/>
                </a:solidFill>
              </a:rPr>
              <a:t>1472 &lt; 1500, so the tunnel does not rely on outer IPv4 fragmentation.</a:t>
            </a:r>
            <a:endParaRPr/>
          </a:p>
        </p:txBody>
      </p:sp>
      <p:sp>
        <p:nvSpPr>
          <p:cNvPr id="168" name="Google Shape;168;p7"/>
          <p:cNvSpPr/>
          <p:nvPr/>
        </p:nvSpPr>
        <p:spPr>
          <a:xfrm>
            <a:off x="552450" y="5981700"/>
            <a:ext cx="10668000" cy="24765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111418"/>
              </a:buClr>
              <a:buSzPts val="1275"/>
              <a:buFont typeface="Arial"/>
              <a:buNone/>
            </a:pPr>
            <a:r>
              <a:rPr b="1" lang="en-US" sz="1275">
                <a:solidFill>
                  <a:srgbClr val="111418"/>
                </a:solidFill>
              </a:rPr>
              <a:t>All multi-byte integers are encoded explicitly in network byte order.</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3" name="Shape 173"/>
        <p:cNvGrpSpPr/>
        <p:nvPr/>
      </p:nvGrpSpPr>
      <p:grpSpPr>
        <a:xfrm>
          <a:off x="0" y="0"/>
          <a:ext cx="0" cy="0"/>
          <a:chOff x="0" y="0"/>
          <a:chExt cx="0" cy="0"/>
        </a:xfrm>
      </p:grpSpPr>
      <p:sp>
        <p:nvSpPr>
          <p:cNvPr id="174" name="Google Shape;174;p8"/>
          <p:cNvSpPr/>
          <p:nvPr/>
        </p:nvSpPr>
        <p:spPr>
          <a:xfrm>
            <a:off x="457200" y="552450"/>
            <a:ext cx="112395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11418"/>
              </a:buClr>
              <a:buSzPts val="2625"/>
              <a:buFont typeface="Arial"/>
              <a:buNone/>
            </a:pPr>
            <a:r>
              <a:rPr b="1" lang="en-US" sz="2625">
                <a:solidFill>
                  <a:srgbClr val="111418"/>
                </a:solidFill>
              </a:rPr>
              <a:t>Authenticated ephemeral key exchange</a:t>
            </a:r>
            <a:endParaRPr/>
          </a:p>
        </p:txBody>
      </p:sp>
      <p:cxnSp>
        <p:nvCxnSpPr>
          <p:cNvPr id="175" name="Google Shape;175;p8"/>
          <p:cNvCxnSpPr/>
          <p:nvPr/>
        </p:nvCxnSpPr>
        <p:spPr>
          <a:xfrm>
            <a:off x="457200" y="1257300"/>
            <a:ext cx="11277600" cy="0"/>
          </a:xfrm>
          <a:prstGeom prst="straightConnector1">
            <a:avLst/>
          </a:prstGeom>
          <a:noFill/>
          <a:ln cap="flat" cmpd="sng" w="9525">
            <a:solidFill>
              <a:srgbClr val="B8BCC4"/>
            </a:solidFill>
            <a:prstDash val="solid"/>
            <a:round/>
            <a:headEnd len="sm" w="sm" type="none"/>
            <a:tailEnd len="sm" w="sm" type="none"/>
          </a:ln>
        </p:spPr>
      </p:cxnSp>
      <p:sp>
        <p:nvSpPr>
          <p:cNvPr id="176" name="Google Shape;176;p8"/>
          <p:cNvSpPr/>
          <p:nvPr/>
        </p:nvSpPr>
        <p:spPr>
          <a:xfrm>
            <a:off x="11001375" y="6429375"/>
            <a:ext cx="733425" cy="1714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5E6672"/>
              </a:buClr>
              <a:buSzPts val="900"/>
              <a:buFont typeface="Arial"/>
              <a:buNone/>
            </a:pPr>
            <a:r>
              <a:rPr b="0" lang="en-US" sz="900">
                <a:solidFill>
                  <a:srgbClr val="5E6672"/>
                </a:solidFill>
              </a:rPr>
              <a:t>· 06</a:t>
            </a:r>
            <a:endParaRPr/>
          </a:p>
        </p:txBody>
      </p:sp>
      <p:cxnSp>
        <p:nvCxnSpPr>
          <p:cNvPr id="177" name="Google Shape;177;p8"/>
          <p:cNvCxnSpPr/>
          <p:nvPr/>
        </p:nvCxnSpPr>
        <p:spPr>
          <a:xfrm>
            <a:off x="2266950" y="1752600"/>
            <a:ext cx="0" cy="3390900"/>
          </a:xfrm>
          <a:prstGeom prst="straightConnector1">
            <a:avLst/>
          </a:prstGeom>
          <a:noFill/>
          <a:ln cap="flat" cmpd="sng" w="19050">
            <a:solidFill>
              <a:srgbClr val="B8BCC4"/>
            </a:solidFill>
            <a:prstDash val="dash"/>
            <a:round/>
            <a:headEnd len="sm" w="sm" type="none"/>
            <a:tailEnd len="sm" w="sm" type="none"/>
          </a:ln>
        </p:spPr>
      </p:cxnSp>
      <p:cxnSp>
        <p:nvCxnSpPr>
          <p:cNvPr id="178" name="Google Shape;178;p8"/>
          <p:cNvCxnSpPr/>
          <p:nvPr/>
        </p:nvCxnSpPr>
        <p:spPr>
          <a:xfrm>
            <a:off x="9886950" y="1752600"/>
            <a:ext cx="0" cy="3390900"/>
          </a:xfrm>
          <a:prstGeom prst="straightConnector1">
            <a:avLst/>
          </a:prstGeom>
          <a:noFill/>
          <a:ln cap="flat" cmpd="sng" w="19050">
            <a:solidFill>
              <a:srgbClr val="B8BCC4"/>
            </a:solidFill>
            <a:prstDash val="dash"/>
            <a:round/>
            <a:headEnd len="sm" w="sm" type="none"/>
            <a:tailEnd len="sm" w="sm" type="none"/>
          </a:ln>
        </p:spPr>
      </p:cxnSp>
      <p:sp>
        <p:nvSpPr>
          <p:cNvPr id="179" name="Google Shape;179;p8"/>
          <p:cNvSpPr/>
          <p:nvPr/>
        </p:nvSpPr>
        <p:spPr>
          <a:xfrm>
            <a:off x="2952750" y="2476500"/>
            <a:ext cx="6229350" cy="266700"/>
          </a:xfrm>
          <a:prstGeom prst="rightArrow">
            <a:avLst>
              <a:gd fmla="val 50000" name="adj1"/>
              <a:gd fmla="val 50000" name="adj2"/>
            </a:avLst>
          </a:prstGeom>
          <a:solidFill>
            <a:srgbClr val="3D8DFF"/>
          </a:solidFill>
          <a:ln cap="flat" cmpd="sng" w="9525">
            <a:solidFill>
              <a:srgbClr val="3D8D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8"/>
          <p:cNvSpPr/>
          <p:nvPr/>
        </p:nvSpPr>
        <p:spPr>
          <a:xfrm>
            <a:off x="2952750" y="3943350"/>
            <a:ext cx="6229350" cy="266700"/>
          </a:xfrm>
          <a:prstGeom prst="leftArrow">
            <a:avLst>
              <a:gd fmla="val 50000" name="adj1"/>
              <a:gd fmla="val 50000" name="adj2"/>
            </a:avLst>
          </a:prstGeom>
          <a:solidFill>
            <a:srgbClr val="16876F"/>
          </a:solidFill>
          <a:ln cap="flat" cmpd="sng" w="9525">
            <a:solidFill>
              <a:srgbClr val="16876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8"/>
          <p:cNvSpPr/>
          <p:nvPr/>
        </p:nvSpPr>
        <p:spPr>
          <a:xfrm>
            <a:off x="1066800" y="1428750"/>
            <a:ext cx="2400300" cy="552450"/>
          </a:xfrm>
          <a:prstGeom prst="roundRect">
            <a:avLst>
              <a:gd fmla="val 10345" name="adj"/>
            </a:avLst>
          </a:prstGeom>
          <a:solidFill>
            <a:srgbClr val="D7EE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8"/>
          <p:cNvSpPr/>
          <p:nvPr/>
        </p:nvSpPr>
        <p:spPr>
          <a:xfrm>
            <a:off x="1143000" y="1476375"/>
            <a:ext cx="22479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11418"/>
              </a:buClr>
              <a:buSzPts val="1575"/>
              <a:buFont typeface="Arial"/>
              <a:buNone/>
            </a:pPr>
            <a:r>
              <a:rPr b="1" lang="en-US" sz="1575">
                <a:solidFill>
                  <a:srgbClr val="111418"/>
                </a:solidFill>
              </a:rPr>
              <a:t>Pi A · client</a:t>
            </a:r>
            <a:endParaRPr/>
          </a:p>
        </p:txBody>
      </p:sp>
      <p:sp>
        <p:nvSpPr>
          <p:cNvPr id="183" name="Google Shape;183;p8"/>
          <p:cNvSpPr/>
          <p:nvPr/>
        </p:nvSpPr>
        <p:spPr>
          <a:xfrm>
            <a:off x="8686800" y="1428750"/>
            <a:ext cx="2400300" cy="552450"/>
          </a:xfrm>
          <a:prstGeom prst="roundRect">
            <a:avLst>
              <a:gd fmla="val 10345" name="adj"/>
            </a:avLst>
          </a:prstGeom>
          <a:solidFill>
            <a:srgbClr val="DD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8"/>
          <p:cNvSpPr/>
          <p:nvPr/>
        </p:nvSpPr>
        <p:spPr>
          <a:xfrm>
            <a:off x="8763000" y="1476375"/>
            <a:ext cx="22479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11418"/>
              </a:buClr>
              <a:buSzPts val="1575"/>
              <a:buFont typeface="Arial"/>
              <a:buNone/>
            </a:pPr>
            <a:r>
              <a:rPr b="1" lang="en-US" sz="1575">
                <a:solidFill>
                  <a:srgbClr val="111418"/>
                </a:solidFill>
              </a:rPr>
              <a:t>Pi B · server</a:t>
            </a:r>
            <a:endParaRPr/>
          </a:p>
        </p:txBody>
      </p:sp>
      <p:sp>
        <p:nvSpPr>
          <p:cNvPr id="185" name="Google Shape;185;p8"/>
          <p:cNvSpPr/>
          <p:nvPr/>
        </p:nvSpPr>
        <p:spPr>
          <a:xfrm>
            <a:off x="4267200" y="2095500"/>
            <a:ext cx="3619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3D8DFF"/>
              </a:buClr>
              <a:buSzPts val="1350"/>
              <a:buFont typeface="Arial"/>
              <a:buNone/>
            </a:pPr>
            <a:r>
              <a:rPr b="1" lang="en-US" sz="1350">
                <a:solidFill>
                  <a:srgbClr val="3D8DFF"/>
                </a:solidFill>
              </a:rPr>
              <a:t>CLIENT_HELLO · 112-byte payload</a:t>
            </a:r>
            <a:endParaRPr/>
          </a:p>
        </p:txBody>
      </p:sp>
      <p:sp>
        <p:nvSpPr>
          <p:cNvPr id="186" name="Google Shape;186;p8"/>
          <p:cNvSpPr/>
          <p:nvPr/>
        </p:nvSpPr>
        <p:spPr>
          <a:xfrm>
            <a:off x="3086100" y="2857500"/>
            <a:ext cx="5981700" cy="32385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111418"/>
              </a:buClr>
              <a:buSzPts val="1275"/>
              <a:buFont typeface="Arial"/>
              <a:buNone/>
            </a:pPr>
            <a:r>
              <a:rPr b="0" lang="en-US" sz="1275">
                <a:solidFill>
                  <a:srgbClr val="111418"/>
                </a:solidFill>
              </a:rPr>
              <a:t>client ephemeral pk (32)  |  client_random (16)  |  Ed25519 signature (64)</a:t>
            </a:r>
            <a:endParaRPr/>
          </a:p>
        </p:txBody>
      </p:sp>
      <p:sp>
        <p:nvSpPr>
          <p:cNvPr id="187" name="Google Shape;187;p8"/>
          <p:cNvSpPr/>
          <p:nvPr/>
        </p:nvSpPr>
        <p:spPr>
          <a:xfrm>
            <a:off x="2743200" y="3238500"/>
            <a:ext cx="6667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5E6672"/>
              </a:buClr>
              <a:buSzPts val="1125"/>
              <a:buFont typeface="Arial"/>
              <a:buNone/>
            </a:pPr>
            <a:r>
              <a:rPr b="0" lang="en-US" sz="1125">
                <a:solidFill>
                  <a:srgbClr val="5E6672"/>
                </a:solidFill>
              </a:rPr>
              <a:t>signature transcript: "SVPN-CHLO-v1" || version || client_random || client_eph_pk</a:t>
            </a:r>
            <a:endParaRPr/>
          </a:p>
        </p:txBody>
      </p:sp>
      <p:sp>
        <p:nvSpPr>
          <p:cNvPr id="188" name="Google Shape;188;p8"/>
          <p:cNvSpPr/>
          <p:nvPr/>
        </p:nvSpPr>
        <p:spPr>
          <a:xfrm>
            <a:off x="4267200" y="3562350"/>
            <a:ext cx="3619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16876F"/>
              </a:buClr>
              <a:buSzPts val="1350"/>
              <a:buFont typeface="Arial"/>
              <a:buNone/>
            </a:pPr>
            <a:r>
              <a:rPr b="1" lang="en-US" sz="1350">
                <a:solidFill>
                  <a:srgbClr val="16876F"/>
                </a:solidFill>
              </a:rPr>
              <a:t>SERVER_HELLO · 128-byte payload</a:t>
            </a:r>
            <a:endParaRPr/>
          </a:p>
        </p:txBody>
      </p:sp>
      <p:sp>
        <p:nvSpPr>
          <p:cNvPr id="189" name="Google Shape;189;p8"/>
          <p:cNvSpPr/>
          <p:nvPr/>
        </p:nvSpPr>
        <p:spPr>
          <a:xfrm>
            <a:off x="2857500" y="4343400"/>
            <a:ext cx="6438900" cy="32385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111418"/>
              </a:buClr>
              <a:buSzPts val="1200"/>
              <a:buFont typeface="Arial"/>
              <a:buNone/>
            </a:pPr>
            <a:r>
              <a:rPr b="0" lang="en-US" sz="1200">
                <a:solidFill>
                  <a:srgbClr val="111418"/>
                </a:solidFill>
              </a:rPr>
              <a:t>server ephemeral pk (32)  |  echoed client_random (16)  |  server_random (16)  |  signature (64)</a:t>
            </a:r>
            <a:endParaRPr/>
          </a:p>
        </p:txBody>
      </p:sp>
      <p:sp>
        <p:nvSpPr>
          <p:cNvPr id="190" name="Google Shape;190;p8"/>
          <p:cNvSpPr/>
          <p:nvPr/>
        </p:nvSpPr>
        <p:spPr>
          <a:xfrm>
            <a:off x="2476500" y="5238750"/>
            <a:ext cx="7200900" cy="3048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111418"/>
              </a:buClr>
              <a:buSzPts val="1725"/>
              <a:buFont typeface="Arial"/>
              <a:buNone/>
            </a:pPr>
            <a:r>
              <a:rPr b="1" lang="en-US" sz="1725">
                <a:solidFill>
                  <a:srgbClr val="111418"/>
                </a:solidFill>
              </a:rPr>
              <a:t>crypto_kx: client_tx = server_rx · client_rx = server_tx</a:t>
            </a:r>
            <a:endParaRPr/>
          </a:p>
        </p:txBody>
      </p:sp>
      <p:sp>
        <p:nvSpPr>
          <p:cNvPr id="191" name="Google Shape;191;p8"/>
          <p:cNvSpPr/>
          <p:nvPr/>
        </p:nvSpPr>
        <p:spPr>
          <a:xfrm>
            <a:off x="1809750" y="5657850"/>
            <a:ext cx="8534400" cy="28575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5E6672"/>
              </a:buClr>
              <a:buSzPts val="1200"/>
              <a:buFont typeface="Arial"/>
              <a:buNone/>
            </a:pPr>
            <a:r>
              <a:rPr b="0" lang="en-US" sz="1200">
                <a:solidFill>
                  <a:srgbClr val="5E6672"/>
                </a:solidFill>
              </a:rPr>
              <a:t>CLIENT_HELLO retransmit: 500 ms · handshake timeout: 10 s · duplicate CHLO receives the same SHLO</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6" name="Shape 196"/>
        <p:cNvGrpSpPr/>
        <p:nvPr/>
      </p:nvGrpSpPr>
      <p:grpSpPr>
        <a:xfrm>
          <a:off x="0" y="0"/>
          <a:ext cx="0" cy="0"/>
          <a:chOff x="0" y="0"/>
          <a:chExt cx="0" cy="0"/>
        </a:xfrm>
      </p:grpSpPr>
      <p:sp>
        <p:nvSpPr>
          <p:cNvPr id="197" name="Google Shape;197;p9"/>
          <p:cNvSpPr/>
          <p:nvPr/>
        </p:nvSpPr>
        <p:spPr>
          <a:xfrm>
            <a:off x="457200" y="171450"/>
            <a:ext cx="4762500" cy="209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D8DFF"/>
              </a:buClr>
              <a:buSzPts val="1050"/>
              <a:buFont typeface="Arial"/>
              <a:buNone/>
            </a:pPr>
            <a:r>
              <a:rPr b="1" lang="en-US" sz="1050">
                <a:solidFill>
                  <a:srgbClr val="3D8DFF"/>
                </a:solidFill>
              </a:rPr>
              <a:t> TESTING</a:t>
            </a:r>
            <a:endParaRPr/>
          </a:p>
        </p:txBody>
      </p:sp>
      <p:sp>
        <p:nvSpPr>
          <p:cNvPr id="198" name="Google Shape;198;p9"/>
          <p:cNvSpPr/>
          <p:nvPr/>
        </p:nvSpPr>
        <p:spPr>
          <a:xfrm>
            <a:off x="457200" y="552450"/>
            <a:ext cx="112395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11418"/>
              </a:buClr>
              <a:buSzPts val="2625"/>
              <a:buFont typeface="Arial"/>
              <a:buNone/>
            </a:pPr>
            <a:r>
              <a:rPr b="1" lang="en-US" sz="2625">
                <a:solidFill>
                  <a:srgbClr val="111418"/>
                </a:solidFill>
              </a:rPr>
              <a:t>Verification coverage</a:t>
            </a:r>
            <a:endParaRPr/>
          </a:p>
        </p:txBody>
      </p:sp>
      <p:cxnSp>
        <p:nvCxnSpPr>
          <p:cNvPr id="199" name="Google Shape;199;p9"/>
          <p:cNvCxnSpPr/>
          <p:nvPr/>
        </p:nvCxnSpPr>
        <p:spPr>
          <a:xfrm>
            <a:off x="457200" y="1257300"/>
            <a:ext cx="11277600" cy="0"/>
          </a:xfrm>
          <a:prstGeom prst="straightConnector1">
            <a:avLst/>
          </a:prstGeom>
          <a:noFill/>
          <a:ln cap="flat" cmpd="sng" w="9525">
            <a:solidFill>
              <a:srgbClr val="B8BCC4"/>
            </a:solidFill>
            <a:prstDash val="solid"/>
            <a:round/>
            <a:headEnd len="sm" w="sm" type="none"/>
            <a:tailEnd len="sm" w="sm" type="none"/>
          </a:ln>
        </p:spPr>
      </p:cxnSp>
      <p:sp>
        <p:nvSpPr>
          <p:cNvPr id="200" name="Google Shape;200;p9"/>
          <p:cNvSpPr/>
          <p:nvPr/>
        </p:nvSpPr>
        <p:spPr>
          <a:xfrm>
            <a:off x="11001375" y="6429375"/>
            <a:ext cx="733425" cy="1714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5E6672"/>
              </a:buClr>
              <a:buSzPts val="900"/>
              <a:buFont typeface="Arial"/>
              <a:buNone/>
            </a:pPr>
            <a:r>
              <a:rPr b="0" lang="en-US" sz="900">
                <a:solidFill>
                  <a:srgbClr val="5E6672"/>
                </a:solidFill>
              </a:rPr>
              <a:t>· 0</a:t>
            </a:r>
            <a:r>
              <a:rPr lang="en-US" sz="900">
                <a:solidFill>
                  <a:srgbClr val="5E6672"/>
                </a:solidFill>
              </a:rPr>
              <a:t>7</a:t>
            </a:r>
            <a:endParaRPr/>
          </a:p>
        </p:txBody>
      </p:sp>
      <p:graphicFrame>
        <p:nvGraphicFramePr>
          <p:cNvPr id="201" name="Google Shape;201;p9"/>
          <p:cNvGraphicFramePr/>
          <p:nvPr/>
        </p:nvGraphicFramePr>
        <p:xfrm>
          <a:off x="495300" y="1428750"/>
          <a:ext cx="3000000" cy="3000000"/>
        </p:xfrm>
        <a:graphic>
          <a:graphicData uri="http://schemas.openxmlformats.org/drawingml/2006/table">
            <a:tbl>
              <a:tblPr>
                <a:noFill/>
                <a:tableStyleId>{C4A50F8C-3D8D-4114-BDBC-A85F75E777A7}</a:tableStyleId>
              </a:tblPr>
              <a:tblGrid>
                <a:gridCol w="1809750"/>
                <a:gridCol w="7905750"/>
                <a:gridCol w="1485900"/>
              </a:tblGrid>
              <a:tr h="564350">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rPr>
                        <a:t>Layer</a:t>
                      </a:r>
                      <a:endParaRPr/>
                    </a:p>
                  </a:txBody>
                  <a:tcPr marT="38100" marB="38100" marR="47625" marL="47625" anchor="ctr">
                    <a:solidFill>
                      <a:srgbClr val="163A5F"/>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rPr>
                        <a:t>Cases covered</a:t>
                      </a:r>
                      <a:endParaRPr/>
                    </a:p>
                  </a:txBody>
                  <a:tcPr marT="38100" marB="38100" marR="47625" marL="47625" anchor="ctr">
                    <a:solidFill>
                      <a:srgbClr val="163A5F"/>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rPr>
                        <a:t>Result</a:t>
                      </a:r>
                      <a:endParaRPr/>
                    </a:p>
                  </a:txBody>
                  <a:tcPr marT="38100" marB="38100" marR="47625" marL="47625" anchor="ctr">
                    <a:solidFill>
                      <a:srgbClr val="163A5F"/>
                    </a:solidFill>
                  </a:tcPr>
                </a:tc>
              </a:tr>
              <a:tr h="564350">
                <a:tc>
                  <a:txBody>
                    <a:bodyPr/>
                    <a:lstStyle/>
                    <a:p>
                      <a:pPr indent="0" lvl="0" marL="0" marR="0" rtl="0" algn="l">
                        <a:spcBef>
                          <a:spcPts val="0"/>
                        </a:spcBef>
                        <a:spcAft>
                          <a:spcPts val="0"/>
                        </a:spcAft>
                        <a:buClr>
                          <a:srgbClr val="111418"/>
                        </a:buClr>
                        <a:buSzPts val="1125"/>
                        <a:buFont typeface="Calibri"/>
                        <a:buNone/>
                      </a:pPr>
                      <a:r>
                        <a:rPr b="1" lang="en-US" sz="1125" u="none" cap="none" strike="noStrike">
                          <a:solidFill>
                            <a:srgbClr val="111418"/>
                          </a:solidFill>
                        </a:rPr>
                        <a:t>Protocol parser</a:t>
                      </a:r>
                      <a:endParaRPr/>
                    </a:p>
                  </a:txBody>
                  <a:tcPr marT="38100" marB="38100" marR="57150" marL="76200" anchor="ctr">
                    <a:solidFill>
                      <a:srgbClr val="F0F2F4"/>
                    </a:solidFill>
                  </a:tcPr>
                </a:tc>
                <a:tc>
                  <a:txBody>
                    <a:bodyPr/>
                    <a:lstStyle/>
                    <a:p>
                      <a:pPr indent="0" lvl="0" marL="0" marR="0" rtl="0" algn="ctr">
                        <a:spcBef>
                          <a:spcPts val="0"/>
                        </a:spcBef>
                        <a:spcAft>
                          <a:spcPts val="0"/>
                        </a:spcAft>
                        <a:buClr>
                          <a:srgbClr val="111418"/>
                        </a:buClr>
                        <a:buSzPts val="1125"/>
                        <a:buFont typeface="Calibri"/>
                        <a:buNone/>
                      </a:pPr>
                      <a:r>
                        <a:rPr lang="en-US" sz="1125" u="none" cap="none" strike="noStrike">
                          <a:solidFill>
                            <a:srgbClr val="111418"/>
                          </a:solidFill>
                        </a:rPr>
                        <a:t>Exact bytes; big-endian sequence; invalid magic/version/type; lengths 0–27; trailing/oversize; random buffers</a:t>
                      </a:r>
                      <a:endParaRPr/>
                    </a:p>
                  </a:txBody>
                  <a:tcPr marT="38100" marB="38100" marR="57150" marL="57150" anchor="ctr">
                    <a:solidFill>
                      <a:srgbClr val="FFFFFF"/>
                    </a:solidFill>
                  </a:tcPr>
                </a:tc>
                <a:tc>
                  <a:txBody>
                    <a:bodyPr/>
                    <a:lstStyle/>
                    <a:p>
                      <a:pPr indent="0" lvl="0" marL="0" marR="0" rtl="0" algn="ctr">
                        <a:spcBef>
                          <a:spcPts val="0"/>
                        </a:spcBef>
                        <a:spcAft>
                          <a:spcPts val="0"/>
                        </a:spcAft>
                        <a:buClr>
                          <a:srgbClr val="16876F"/>
                        </a:buClr>
                        <a:buSzPts val="1200"/>
                        <a:buFont typeface="Calibri"/>
                        <a:buNone/>
                      </a:pPr>
                      <a:r>
                        <a:rPr b="1" lang="en-US" sz="1200" u="none" cap="none" strike="noStrike">
                          <a:solidFill>
                            <a:srgbClr val="16876F"/>
                          </a:solidFill>
                        </a:rPr>
                        <a:t>pass</a:t>
                      </a:r>
                      <a:endParaRPr/>
                    </a:p>
                  </a:txBody>
                  <a:tcPr marT="38100" marB="38100" marR="57150" marL="57150" anchor="ctr">
                    <a:solidFill>
                      <a:srgbClr val="DDF3EB"/>
                    </a:solidFill>
                  </a:tcPr>
                </a:tc>
              </a:tr>
              <a:tr h="564350">
                <a:tc>
                  <a:txBody>
                    <a:bodyPr/>
                    <a:lstStyle/>
                    <a:p>
                      <a:pPr indent="0" lvl="0" marL="0" marR="0" rtl="0" algn="l">
                        <a:spcBef>
                          <a:spcPts val="0"/>
                        </a:spcBef>
                        <a:spcAft>
                          <a:spcPts val="0"/>
                        </a:spcAft>
                        <a:buClr>
                          <a:srgbClr val="111418"/>
                        </a:buClr>
                        <a:buSzPts val="1125"/>
                        <a:buFont typeface="Calibri"/>
                        <a:buNone/>
                      </a:pPr>
                      <a:r>
                        <a:rPr b="1" lang="en-US" sz="1125" u="none" cap="none" strike="noStrike">
                          <a:solidFill>
                            <a:srgbClr val="111418"/>
                          </a:solidFill>
                        </a:rPr>
                        <a:t>Crypto</a:t>
                      </a:r>
                      <a:endParaRPr/>
                    </a:p>
                  </a:txBody>
                  <a:tcPr marT="38100" marB="38100" marR="57150" marL="76200" anchor="ctr">
                    <a:solidFill>
                      <a:srgbClr val="F0F2F4"/>
                    </a:solidFill>
                  </a:tcPr>
                </a:tc>
                <a:tc>
                  <a:txBody>
                    <a:bodyPr/>
                    <a:lstStyle/>
                    <a:p>
                      <a:pPr indent="0" lvl="0" marL="0" marR="0" rtl="0" algn="ctr">
                        <a:spcBef>
                          <a:spcPts val="0"/>
                        </a:spcBef>
                        <a:spcAft>
                          <a:spcPts val="0"/>
                        </a:spcAft>
                        <a:buClr>
                          <a:srgbClr val="111418"/>
                        </a:buClr>
                        <a:buSzPts val="1125"/>
                        <a:buFont typeface="Calibri"/>
                        <a:buNone/>
                      </a:pPr>
                      <a:r>
                        <a:rPr lang="en-US" sz="1125" u="none" cap="none" strike="noStrike">
                          <a:solidFill>
                            <a:srgbClr val="111418"/>
                          </a:solidFill>
                        </a:rPr>
                        <a:t>Directional crypto_kx keys; nonce domains; AEAD at 0, 4 and 1400 B; tampered ciphertext/tag/AAD/key/nonce</a:t>
                      </a:r>
                      <a:endParaRPr/>
                    </a:p>
                  </a:txBody>
                  <a:tcPr marT="38100" marB="38100" marR="57150" marL="57150" anchor="ctr">
                    <a:solidFill>
                      <a:srgbClr val="FFFFFF"/>
                    </a:solidFill>
                  </a:tcPr>
                </a:tc>
                <a:tc>
                  <a:txBody>
                    <a:bodyPr/>
                    <a:lstStyle/>
                    <a:p>
                      <a:pPr indent="0" lvl="0" marL="0" marR="0" rtl="0" algn="ctr">
                        <a:spcBef>
                          <a:spcPts val="0"/>
                        </a:spcBef>
                        <a:spcAft>
                          <a:spcPts val="0"/>
                        </a:spcAft>
                        <a:buClr>
                          <a:srgbClr val="16876F"/>
                        </a:buClr>
                        <a:buSzPts val="1200"/>
                        <a:buFont typeface="Calibri"/>
                        <a:buNone/>
                      </a:pPr>
                      <a:r>
                        <a:rPr b="1" lang="en-US" sz="1200" u="none" cap="none" strike="noStrike">
                          <a:solidFill>
                            <a:srgbClr val="16876F"/>
                          </a:solidFill>
                        </a:rPr>
                        <a:t>pass</a:t>
                      </a:r>
                      <a:endParaRPr/>
                    </a:p>
                  </a:txBody>
                  <a:tcPr marT="38100" marB="38100" marR="57150" marL="57150" anchor="ctr">
                    <a:solidFill>
                      <a:srgbClr val="DDF3EB"/>
                    </a:solidFill>
                  </a:tcPr>
                </a:tc>
              </a:tr>
              <a:tr h="564350">
                <a:tc>
                  <a:txBody>
                    <a:bodyPr/>
                    <a:lstStyle/>
                    <a:p>
                      <a:pPr indent="0" lvl="0" marL="0" marR="0" rtl="0" algn="l">
                        <a:spcBef>
                          <a:spcPts val="0"/>
                        </a:spcBef>
                        <a:spcAft>
                          <a:spcPts val="0"/>
                        </a:spcAft>
                        <a:buClr>
                          <a:srgbClr val="111418"/>
                        </a:buClr>
                        <a:buSzPts val="1125"/>
                        <a:buFont typeface="Calibri"/>
                        <a:buNone/>
                      </a:pPr>
                      <a:r>
                        <a:rPr b="1" lang="en-US" sz="1125" u="none" cap="none" strike="noStrike">
                          <a:solidFill>
                            <a:srgbClr val="111418"/>
                          </a:solidFill>
                        </a:rPr>
                        <a:t>Handshake</a:t>
                      </a:r>
                      <a:endParaRPr/>
                    </a:p>
                  </a:txBody>
                  <a:tcPr marT="38100" marB="38100" marR="57150" marL="76200" anchor="ctr">
                    <a:solidFill>
                      <a:srgbClr val="F0F2F4"/>
                    </a:solidFill>
                  </a:tcPr>
                </a:tc>
                <a:tc>
                  <a:txBody>
                    <a:bodyPr/>
                    <a:lstStyle/>
                    <a:p>
                      <a:pPr indent="0" lvl="0" marL="0" marR="0" rtl="0" algn="ctr">
                        <a:spcBef>
                          <a:spcPts val="0"/>
                        </a:spcBef>
                        <a:spcAft>
                          <a:spcPts val="0"/>
                        </a:spcAft>
                        <a:buClr>
                          <a:srgbClr val="111418"/>
                        </a:buClr>
                        <a:buSzPts val="1125"/>
                        <a:buFont typeface="Calibri"/>
                        <a:buNone/>
                      </a:pPr>
                      <a:r>
                        <a:rPr lang="en-US" sz="1125" u="none" cap="none" strike="noStrike">
                          <a:solidFill>
                            <a:srgbClr val="111418"/>
                          </a:solidFill>
                        </a:rPr>
                        <a:t>Valid CHLO/SHLO; modified ephemeral/random; wrong pinned identity; echoed random; matching session IDs</a:t>
                      </a:r>
                      <a:endParaRPr/>
                    </a:p>
                  </a:txBody>
                  <a:tcPr marT="38100" marB="38100" marR="57150" marL="57150" anchor="ctr">
                    <a:solidFill>
                      <a:srgbClr val="FFFFFF"/>
                    </a:solidFill>
                  </a:tcPr>
                </a:tc>
                <a:tc>
                  <a:txBody>
                    <a:bodyPr/>
                    <a:lstStyle/>
                    <a:p>
                      <a:pPr indent="0" lvl="0" marL="0" marR="0" rtl="0" algn="ctr">
                        <a:spcBef>
                          <a:spcPts val="0"/>
                        </a:spcBef>
                        <a:spcAft>
                          <a:spcPts val="0"/>
                        </a:spcAft>
                        <a:buClr>
                          <a:srgbClr val="16876F"/>
                        </a:buClr>
                        <a:buSzPts val="1200"/>
                        <a:buFont typeface="Calibri"/>
                        <a:buNone/>
                      </a:pPr>
                      <a:r>
                        <a:rPr b="1" lang="en-US" sz="1200" u="none" cap="none" strike="noStrike">
                          <a:solidFill>
                            <a:srgbClr val="16876F"/>
                          </a:solidFill>
                        </a:rPr>
                        <a:t>pass</a:t>
                      </a:r>
                      <a:endParaRPr/>
                    </a:p>
                  </a:txBody>
                  <a:tcPr marT="38100" marB="38100" marR="57150" marL="57150" anchor="ctr">
                    <a:solidFill>
                      <a:srgbClr val="DDF3EB"/>
                    </a:solidFill>
                  </a:tcPr>
                </a:tc>
              </a:tr>
              <a:tr h="564350">
                <a:tc>
                  <a:txBody>
                    <a:bodyPr/>
                    <a:lstStyle/>
                    <a:p>
                      <a:pPr indent="0" lvl="0" marL="0" marR="0" rtl="0" algn="l">
                        <a:spcBef>
                          <a:spcPts val="0"/>
                        </a:spcBef>
                        <a:spcAft>
                          <a:spcPts val="0"/>
                        </a:spcAft>
                        <a:buClr>
                          <a:srgbClr val="111418"/>
                        </a:buClr>
                        <a:buSzPts val="1125"/>
                        <a:buFont typeface="Calibri"/>
                        <a:buNone/>
                      </a:pPr>
                      <a:r>
                        <a:rPr b="1" lang="en-US" sz="1125" u="none" cap="none" strike="noStrike">
                          <a:solidFill>
                            <a:srgbClr val="111418"/>
                          </a:solidFill>
                        </a:rPr>
                        <a:t>Replay</a:t>
                      </a:r>
                      <a:endParaRPr/>
                    </a:p>
                  </a:txBody>
                  <a:tcPr marT="38100" marB="38100" marR="57150" marL="76200" anchor="ctr">
                    <a:solidFill>
                      <a:srgbClr val="F0F2F4"/>
                    </a:solidFill>
                  </a:tcPr>
                </a:tc>
                <a:tc>
                  <a:txBody>
                    <a:bodyPr/>
                    <a:lstStyle/>
                    <a:p>
                      <a:pPr indent="0" lvl="0" marL="0" marR="0" rtl="0" algn="ctr">
                        <a:spcBef>
                          <a:spcPts val="0"/>
                        </a:spcBef>
                        <a:spcAft>
                          <a:spcPts val="0"/>
                        </a:spcAft>
                        <a:buClr>
                          <a:srgbClr val="111418"/>
                        </a:buClr>
                        <a:buSzPts val="1125"/>
                        <a:buFont typeface="Calibri"/>
                        <a:buNone/>
                      </a:pPr>
                      <a:r>
                        <a:rPr lang="en-US" sz="1125" u="none" cap="none" strike="noStrike">
                          <a:solidFill>
                            <a:srgbClr val="111418"/>
                          </a:solidFill>
                        </a:rPr>
                        <a:t>First/monotonic; duplicate; in-window reorder; highest−63 boundary; ≥64 jump; UINT64_MAX; sequence 0</a:t>
                      </a:r>
                      <a:endParaRPr/>
                    </a:p>
                  </a:txBody>
                  <a:tcPr marT="38100" marB="38100" marR="57150" marL="57150" anchor="ctr">
                    <a:solidFill>
                      <a:srgbClr val="FFFFFF"/>
                    </a:solidFill>
                  </a:tcPr>
                </a:tc>
                <a:tc>
                  <a:txBody>
                    <a:bodyPr/>
                    <a:lstStyle/>
                    <a:p>
                      <a:pPr indent="0" lvl="0" marL="0" marR="0" rtl="0" algn="ctr">
                        <a:spcBef>
                          <a:spcPts val="0"/>
                        </a:spcBef>
                        <a:spcAft>
                          <a:spcPts val="0"/>
                        </a:spcAft>
                        <a:buClr>
                          <a:srgbClr val="16876F"/>
                        </a:buClr>
                        <a:buSzPts val="1200"/>
                        <a:buFont typeface="Calibri"/>
                        <a:buNone/>
                      </a:pPr>
                      <a:r>
                        <a:rPr b="1" lang="en-US" sz="1200" u="none" cap="none" strike="noStrike">
                          <a:solidFill>
                            <a:srgbClr val="16876F"/>
                          </a:solidFill>
                        </a:rPr>
                        <a:t>pass</a:t>
                      </a:r>
                      <a:endParaRPr/>
                    </a:p>
                  </a:txBody>
                  <a:tcPr marT="38100" marB="38100" marR="57150" marL="57150" anchor="ctr">
                    <a:solidFill>
                      <a:srgbClr val="DDF3EB"/>
                    </a:solidFill>
                  </a:tcPr>
                </a:tc>
              </a:tr>
              <a:tr h="564350">
                <a:tc>
                  <a:txBody>
                    <a:bodyPr/>
                    <a:lstStyle/>
                    <a:p>
                      <a:pPr indent="0" lvl="0" marL="0" marR="0" rtl="0" algn="l">
                        <a:spcBef>
                          <a:spcPts val="0"/>
                        </a:spcBef>
                        <a:spcAft>
                          <a:spcPts val="0"/>
                        </a:spcAft>
                        <a:buClr>
                          <a:srgbClr val="111418"/>
                        </a:buClr>
                        <a:buSzPts val="1125"/>
                        <a:buFont typeface="Calibri"/>
                        <a:buNone/>
                      </a:pPr>
                      <a:r>
                        <a:rPr b="1" lang="en-US" sz="1125" u="none" cap="none" strike="noStrike">
                          <a:solidFill>
                            <a:srgbClr val="111418"/>
                          </a:solidFill>
                        </a:rPr>
                        <a:t>Integration</a:t>
                      </a:r>
                      <a:endParaRPr/>
                    </a:p>
                  </a:txBody>
                  <a:tcPr marT="38100" marB="38100" marR="57150" marL="76200" anchor="ctr">
                    <a:solidFill>
                      <a:srgbClr val="F0F2F4"/>
                    </a:solidFill>
                  </a:tcPr>
                </a:tc>
                <a:tc>
                  <a:txBody>
                    <a:bodyPr/>
                    <a:lstStyle/>
                    <a:p>
                      <a:pPr indent="0" lvl="0" marL="0" marR="0" rtl="0" algn="ctr">
                        <a:spcBef>
                          <a:spcPts val="0"/>
                        </a:spcBef>
                        <a:spcAft>
                          <a:spcPts val="0"/>
                        </a:spcAft>
                        <a:buClr>
                          <a:srgbClr val="111418"/>
                        </a:buClr>
                        <a:buSzPts val="1125"/>
                        <a:buFont typeface="Calibri"/>
                        <a:buNone/>
                      </a:pPr>
                      <a:r>
                        <a:rPr lang="en-US" sz="1125" u="none" cap="none" strike="noStrike">
                          <a:solidFill>
                            <a:srgbClr val="111418"/>
                          </a:solidFill>
                        </a:rPr>
                        <a:t>Plaintext and encrypted ping/TCP/UDP; session establishment; wrong-identity negative test</a:t>
                      </a:r>
                      <a:endParaRPr/>
                    </a:p>
                  </a:txBody>
                  <a:tcPr marT="38100" marB="38100" marR="57150" marL="57150" anchor="ctr">
                    <a:solidFill>
                      <a:srgbClr val="FFFFFF"/>
                    </a:solidFill>
                  </a:tcPr>
                </a:tc>
                <a:tc>
                  <a:txBody>
                    <a:bodyPr/>
                    <a:lstStyle/>
                    <a:p>
                      <a:pPr indent="0" lvl="0" marL="0" marR="0" rtl="0" algn="ctr">
                        <a:spcBef>
                          <a:spcPts val="0"/>
                        </a:spcBef>
                        <a:spcAft>
                          <a:spcPts val="0"/>
                        </a:spcAft>
                        <a:buClr>
                          <a:srgbClr val="16876F"/>
                        </a:buClr>
                        <a:buSzPts val="1200"/>
                        <a:buFont typeface="Calibri"/>
                        <a:buNone/>
                      </a:pPr>
                      <a:r>
                        <a:rPr b="1" lang="en-US" sz="1200" u="none" cap="none" strike="noStrike">
                          <a:solidFill>
                            <a:srgbClr val="16876F"/>
                          </a:solidFill>
                        </a:rPr>
                        <a:t>pass</a:t>
                      </a:r>
                      <a:endParaRPr/>
                    </a:p>
                  </a:txBody>
                  <a:tcPr marT="38100" marB="38100" marR="57150" marL="57150" anchor="ctr">
                    <a:solidFill>
                      <a:srgbClr val="DDF3EB"/>
                    </a:solidFill>
                  </a:tcPr>
                </a:tc>
              </a:tr>
              <a:tr h="564350">
                <a:tc>
                  <a:txBody>
                    <a:bodyPr/>
                    <a:lstStyle/>
                    <a:p>
                      <a:pPr indent="0" lvl="0" marL="0" marR="0" rtl="0" algn="l">
                        <a:spcBef>
                          <a:spcPts val="0"/>
                        </a:spcBef>
                        <a:spcAft>
                          <a:spcPts val="0"/>
                        </a:spcAft>
                        <a:buClr>
                          <a:srgbClr val="111418"/>
                        </a:buClr>
                        <a:buSzPts val="1125"/>
                        <a:buFont typeface="Calibri"/>
                        <a:buNone/>
                      </a:pPr>
                      <a:r>
                        <a:rPr b="1" lang="en-US" sz="1125" u="none" cap="none" strike="noStrike">
                          <a:solidFill>
                            <a:srgbClr val="111418"/>
                          </a:solidFill>
                        </a:rPr>
                        <a:t>Memory safety</a:t>
                      </a:r>
                      <a:endParaRPr/>
                    </a:p>
                  </a:txBody>
                  <a:tcPr marT="38100" marB="38100" marR="57150" marL="76200" anchor="ctr">
                    <a:solidFill>
                      <a:srgbClr val="F0F2F4"/>
                    </a:solidFill>
                  </a:tcPr>
                </a:tc>
                <a:tc>
                  <a:txBody>
                    <a:bodyPr/>
                    <a:lstStyle/>
                    <a:p>
                      <a:pPr indent="0" lvl="0" marL="0" marR="0" rtl="0" algn="ctr">
                        <a:spcBef>
                          <a:spcPts val="0"/>
                        </a:spcBef>
                        <a:spcAft>
                          <a:spcPts val="0"/>
                        </a:spcAft>
                        <a:buClr>
                          <a:srgbClr val="111418"/>
                        </a:buClr>
                        <a:buSzPts val="1125"/>
                        <a:buFont typeface="Calibri"/>
                        <a:buNone/>
                      </a:pPr>
                      <a:r>
                        <a:rPr lang="en-US" sz="1125" u="none" cap="none" strike="noStrike">
                          <a:solidFill>
                            <a:srgbClr val="111418"/>
                          </a:solidFill>
                        </a:rPr>
                        <a:t>AddressSanitizer + UndefinedBehaviorSanitizer on both Raspberry Pis</a:t>
                      </a:r>
                      <a:endParaRPr/>
                    </a:p>
                  </a:txBody>
                  <a:tcPr marT="38100" marB="38100" marR="57150" marL="57150" anchor="ctr">
                    <a:solidFill>
                      <a:srgbClr val="FFFFFF"/>
                    </a:solidFill>
                  </a:tcPr>
                </a:tc>
                <a:tc>
                  <a:txBody>
                    <a:bodyPr/>
                    <a:lstStyle/>
                    <a:p>
                      <a:pPr indent="0" lvl="0" marL="0" marR="0" rtl="0" algn="ctr">
                        <a:spcBef>
                          <a:spcPts val="0"/>
                        </a:spcBef>
                        <a:spcAft>
                          <a:spcPts val="0"/>
                        </a:spcAft>
                        <a:buClr>
                          <a:srgbClr val="16876F"/>
                        </a:buClr>
                        <a:buSzPts val="1200"/>
                        <a:buFont typeface="Calibri"/>
                        <a:buNone/>
                      </a:pPr>
                      <a:r>
                        <a:rPr b="1" lang="en-US" sz="1200" u="none" cap="none" strike="noStrike">
                          <a:solidFill>
                            <a:srgbClr val="16876F"/>
                          </a:solidFill>
                        </a:rPr>
                        <a:t>pass</a:t>
                      </a:r>
                      <a:endParaRPr/>
                    </a:p>
                  </a:txBody>
                  <a:tcPr marT="38100" marB="38100" marR="57150" marL="57150" anchor="ctr">
                    <a:solidFill>
                      <a:srgbClr val="DDF3EB"/>
                    </a:solidFill>
                  </a:tcPr>
                </a:tc>
              </a:tr>
              <a:tr h="564350">
                <a:tc>
                  <a:txBody>
                    <a:bodyPr/>
                    <a:lstStyle/>
                    <a:p>
                      <a:pPr indent="0" lvl="0" marL="0" marR="0" rtl="0" algn="l">
                        <a:spcBef>
                          <a:spcPts val="0"/>
                        </a:spcBef>
                        <a:spcAft>
                          <a:spcPts val="0"/>
                        </a:spcAft>
                        <a:buClr>
                          <a:srgbClr val="111418"/>
                        </a:buClr>
                        <a:buSzPts val="1125"/>
                        <a:buFont typeface="Calibri"/>
                        <a:buNone/>
                      </a:pPr>
                      <a:r>
                        <a:rPr b="1" lang="en-US" sz="1125" u="none" cap="none" strike="noStrike">
                          <a:solidFill>
                            <a:srgbClr val="111418"/>
                          </a:solidFill>
                        </a:rPr>
                        <a:t>Capture</a:t>
                      </a:r>
                      <a:endParaRPr/>
                    </a:p>
                  </a:txBody>
                  <a:tcPr marT="38100" marB="38100" marR="57150" marL="76200" anchor="ctr">
                    <a:solidFill>
                      <a:srgbClr val="F0F2F4"/>
                    </a:solidFill>
                  </a:tcPr>
                </a:tc>
                <a:tc>
                  <a:txBody>
                    <a:bodyPr/>
                    <a:lstStyle/>
                    <a:p>
                      <a:pPr indent="0" lvl="0" marL="0" marR="0" rtl="0" algn="ctr">
                        <a:spcBef>
                          <a:spcPts val="0"/>
                        </a:spcBef>
                        <a:spcAft>
                          <a:spcPts val="0"/>
                        </a:spcAft>
                        <a:buClr>
                          <a:srgbClr val="111418"/>
                        </a:buClr>
                        <a:buSzPts val="1125"/>
                        <a:buFont typeface="Calibri"/>
                        <a:buNone/>
                      </a:pPr>
                      <a:r>
                        <a:rPr lang="en-US" sz="1125" u="none" cap="none" strike="noStrike">
                          <a:solidFill>
                            <a:srgbClr val="111418"/>
                          </a:solidFill>
                        </a:rPr>
                        <a:t>Marker visible on tun0; absent on encrypted wlan0; visible on plaintext wlan0 control</a:t>
                      </a:r>
                      <a:endParaRPr/>
                    </a:p>
                  </a:txBody>
                  <a:tcPr marT="38100" marB="38100" marR="57150" marL="57150" anchor="ctr">
                    <a:solidFill>
                      <a:srgbClr val="FFFFFF"/>
                    </a:solidFill>
                  </a:tcPr>
                </a:tc>
                <a:tc>
                  <a:txBody>
                    <a:bodyPr/>
                    <a:lstStyle/>
                    <a:p>
                      <a:pPr indent="0" lvl="0" marL="0" marR="0" rtl="0" algn="ctr">
                        <a:spcBef>
                          <a:spcPts val="0"/>
                        </a:spcBef>
                        <a:spcAft>
                          <a:spcPts val="0"/>
                        </a:spcAft>
                        <a:buClr>
                          <a:srgbClr val="16876F"/>
                        </a:buClr>
                        <a:buSzPts val="1200"/>
                        <a:buFont typeface="Calibri"/>
                        <a:buNone/>
                      </a:pPr>
                      <a:r>
                        <a:rPr b="1" lang="en-US" sz="1200" u="none" cap="none" strike="noStrike">
                          <a:solidFill>
                            <a:srgbClr val="16876F"/>
                          </a:solidFill>
                        </a:rPr>
                        <a:t>pass</a:t>
                      </a:r>
                      <a:endParaRPr/>
                    </a:p>
                  </a:txBody>
                  <a:tcPr marT="38100" marB="38100" marR="57150" marL="57150" anchor="ctr">
                    <a:solidFill>
                      <a:srgbClr val="DDF3EB"/>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6" name="Shape 206"/>
        <p:cNvGrpSpPr/>
        <p:nvPr/>
      </p:nvGrpSpPr>
      <p:grpSpPr>
        <a:xfrm>
          <a:off x="0" y="0"/>
          <a:ext cx="0" cy="0"/>
          <a:chOff x="0" y="0"/>
          <a:chExt cx="0" cy="0"/>
        </a:xfrm>
      </p:grpSpPr>
      <p:sp>
        <p:nvSpPr>
          <p:cNvPr id="207" name="Google Shape;207;p10"/>
          <p:cNvSpPr/>
          <p:nvPr/>
        </p:nvSpPr>
        <p:spPr>
          <a:xfrm>
            <a:off x="457200" y="171450"/>
            <a:ext cx="4762500" cy="209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D8DFF"/>
              </a:buClr>
              <a:buSzPts val="1050"/>
              <a:buFont typeface="Arial"/>
              <a:buNone/>
            </a:pPr>
            <a:r>
              <a:rPr b="1" lang="en-US" sz="1050">
                <a:solidFill>
                  <a:srgbClr val="3D8DFF"/>
                </a:solidFill>
              </a:rPr>
              <a:t> TESTING</a:t>
            </a:r>
            <a:endParaRPr/>
          </a:p>
        </p:txBody>
      </p:sp>
      <p:sp>
        <p:nvSpPr>
          <p:cNvPr id="208" name="Google Shape;208;p10"/>
          <p:cNvSpPr/>
          <p:nvPr/>
        </p:nvSpPr>
        <p:spPr>
          <a:xfrm>
            <a:off x="457200" y="552450"/>
            <a:ext cx="112395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11418"/>
              </a:buClr>
              <a:buSzPts val="2625"/>
              <a:buFont typeface="Arial"/>
              <a:buNone/>
            </a:pPr>
            <a:r>
              <a:rPr b="1" lang="en-US" sz="2625">
                <a:solidFill>
                  <a:srgbClr val="111418"/>
                </a:solidFill>
              </a:rPr>
              <a:t>Packet-capture evidence</a:t>
            </a:r>
            <a:endParaRPr/>
          </a:p>
        </p:txBody>
      </p:sp>
      <p:cxnSp>
        <p:nvCxnSpPr>
          <p:cNvPr id="209" name="Google Shape;209;p10"/>
          <p:cNvCxnSpPr/>
          <p:nvPr/>
        </p:nvCxnSpPr>
        <p:spPr>
          <a:xfrm>
            <a:off x="457200" y="1257300"/>
            <a:ext cx="11277600" cy="0"/>
          </a:xfrm>
          <a:prstGeom prst="straightConnector1">
            <a:avLst/>
          </a:prstGeom>
          <a:noFill/>
          <a:ln cap="flat" cmpd="sng" w="9525">
            <a:solidFill>
              <a:srgbClr val="B8BCC4"/>
            </a:solidFill>
            <a:prstDash val="solid"/>
            <a:round/>
            <a:headEnd len="sm" w="sm" type="none"/>
            <a:tailEnd len="sm" w="sm" type="none"/>
          </a:ln>
        </p:spPr>
      </p:cxnSp>
      <p:sp>
        <p:nvSpPr>
          <p:cNvPr id="210" name="Google Shape;210;p10"/>
          <p:cNvSpPr/>
          <p:nvPr/>
        </p:nvSpPr>
        <p:spPr>
          <a:xfrm>
            <a:off x="11001375" y="6429375"/>
            <a:ext cx="733425" cy="1714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5E6672"/>
              </a:buClr>
              <a:buSzPts val="900"/>
              <a:buFont typeface="Arial"/>
              <a:buNone/>
            </a:pPr>
            <a:r>
              <a:rPr b="0" lang="en-US" sz="900">
                <a:solidFill>
                  <a:srgbClr val="5E6672"/>
                </a:solidFill>
              </a:rPr>
              <a:t>· 0</a:t>
            </a:r>
            <a:r>
              <a:rPr lang="en-US" sz="900">
                <a:solidFill>
                  <a:srgbClr val="5E6672"/>
                </a:solidFill>
              </a:rPr>
              <a:t>8</a:t>
            </a:r>
            <a:endParaRPr/>
          </a:p>
        </p:txBody>
      </p:sp>
      <p:graphicFrame>
        <p:nvGraphicFramePr>
          <p:cNvPr id="211" name="Google Shape;211;p10"/>
          <p:cNvGraphicFramePr/>
          <p:nvPr/>
        </p:nvGraphicFramePr>
        <p:xfrm>
          <a:off x="495300" y="1485900"/>
          <a:ext cx="3000000" cy="3000000"/>
        </p:xfrm>
        <a:graphic>
          <a:graphicData uri="http://schemas.openxmlformats.org/drawingml/2006/table">
            <a:tbl>
              <a:tblPr>
                <a:noFill/>
                <a:tableStyleId>{C4A50F8C-3D8D-4114-BDBC-A85F75E777A7}</a:tableStyleId>
              </a:tblPr>
              <a:tblGrid>
                <a:gridCol w="2286000"/>
                <a:gridCol w="1714500"/>
                <a:gridCol w="952500"/>
                <a:gridCol w="1238250"/>
                <a:gridCol w="1238250"/>
                <a:gridCol w="3771900"/>
              </a:tblGrid>
              <a:tr h="585800">
                <a:tc>
                  <a:txBody>
                    <a:bodyPr/>
                    <a:lstStyle/>
                    <a:p>
                      <a:pPr indent="0" lvl="0" marL="0" marR="0" rtl="0" algn="ctr">
                        <a:spcBef>
                          <a:spcPts val="0"/>
                        </a:spcBef>
                        <a:spcAft>
                          <a:spcPts val="0"/>
                        </a:spcAft>
                        <a:buClr>
                          <a:srgbClr val="FFFFFF"/>
                        </a:buClr>
                        <a:buSzPts val="1125"/>
                        <a:buFont typeface="Calibri"/>
                        <a:buNone/>
                      </a:pPr>
                      <a:r>
                        <a:rPr b="1" lang="en-US" sz="1125" u="none" cap="none" strike="noStrike">
                          <a:solidFill>
                            <a:srgbClr val="FFFFFF"/>
                          </a:solidFill>
                        </a:rPr>
                        <a:t>Capture</a:t>
                      </a:r>
                      <a:endParaRPr/>
                    </a:p>
                  </a:txBody>
                  <a:tcPr marT="38100" marB="38100" marR="47625" marL="47625" anchor="ctr">
                    <a:solidFill>
                      <a:srgbClr val="163A5F"/>
                    </a:solidFill>
                  </a:tcPr>
                </a:tc>
                <a:tc>
                  <a:txBody>
                    <a:bodyPr/>
                    <a:lstStyle/>
                    <a:p>
                      <a:pPr indent="0" lvl="0" marL="0" marR="0" rtl="0" algn="ctr">
                        <a:spcBef>
                          <a:spcPts val="0"/>
                        </a:spcBef>
                        <a:spcAft>
                          <a:spcPts val="0"/>
                        </a:spcAft>
                        <a:buClr>
                          <a:srgbClr val="FFFFFF"/>
                        </a:buClr>
                        <a:buSzPts val="1125"/>
                        <a:buFont typeface="Calibri"/>
                        <a:buNone/>
                      </a:pPr>
                      <a:r>
                        <a:rPr b="1" lang="en-US" sz="1125" u="none" cap="none" strike="noStrike">
                          <a:solidFill>
                            <a:srgbClr val="FFFFFF"/>
                          </a:solidFill>
                        </a:rPr>
                        <a:t>Interface / mode</a:t>
                      </a:r>
                      <a:endParaRPr/>
                    </a:p>
                  </a:txBody>
                  <a:tcPr marT="38100" marB="38100" marR="47625" marL="47625" anchor="ctr">
                    <a:solidFill>
                      <a:srgbClr val="163A5F"/>
                    </a:solidFill>
                  </a:tcPr>
                </a:tc>
                <a:tc>
                  <a:txBody>
                    <a:bodyPr/>
                    <a:lstStyle/>
                    <a:p>
                      <a:pPr indent="0" lvl="0" marL="0" marR="0" rtl="0" algn="ctr">
                        <a:spcBef>
                          <a:spcPts val="0"/>
                        </a:spcBef>
                        <a:spcAft>
                          <a:spcPts val="0"/>
                        </a:spcAft>
                        <a:buClr>
                          <a:srgbClr val="FFFFFF"/>
                        </a:buClr>
                        <a:buSzPts val="1125"/>
                        <a:buFont typeface="Calibri"/>
                        <a:buNone/>
                      </a:pPr>
                      <a:r>
                        <a:rPr b="1" lang="en-US" sz="1125" u="none" cap="none" strike="noStrike">
                          <a:solidFill>
                            <a:srgbClr val="FFFFFF"/>
                          </a:solidFill>
                        </a:rPr>
                        <a:t>Bytes</a:t>
                      </a:r>
                      <a:endParaRPr/>
                    </a:p>
                  </a:txBody>
                  <a:tcPr marT="38100" marB="38100" marR="47625" marL="47625" anchor="ctr">
                    <a:solidFill>
                      <a:srgbClr val="163A5F"/>
                    </a:solidFill>
                  </a:tcPr>
                </a:tc>
                <a:tc>
                  <a:txBody>
                    <a:bodyPr/>
                    <a:lstStyle/>
                    <a:p>
                      <a:pPr indent="0" lvl="0" marL="0" marR="0" rtl="0" algn="ctr">
                        <a:spcBef>
                          <a:spcPts val="0"/>
                        </a:spcBef>
                        <a:spcAft>
                          <a:spcPts val="0"/>
                        </a:spcAft>
                        <a:buClr>
                          <a:srgbClr val="FFFFFF"/>
                        </a:buClr>
                        <a:buSzPts val="1125"/>
                        <a:buFont typeface="Calibri"/>
                        <a:buNone/>
                      </a:pPr>
                      <a:r>
                        <a:rPr b="1" lang="en-US" sz="1125" u="none" cap="none" strike="noStrike">
                          <a:solidFill>
                            <a:srgbClr val="FFFFFF"/>
                          </a:solidFill>
                        </a:rPr>
                        <a:t>SVPN magic</a:t>
                      </a:r>
                      <a:endParaRPr/>
                    </a:p>
                  </a:txBody>
                  <a:tcPr marT="38100" marB="38100" marR="47625" marL="47625" anchor="ctr">
                    <a:solidFill>
                      <a:srgbClr val="163A5F"/>
                    </a:solidFill>
                  </a:tcPr>
                </a:tc>
                <a:tc>
                  <a:txBody>
                    <a:bodyPr/>
                    <a:lstStyle/>
                    <a:p>
                      <a:pPr indent="0" lvl="0" marL="0" marR="0" rtl="0" algn="ctr">
                        <a:spcBef>
                          <a:spcPts val="0"/>
                        </a:spcBef>
                        <a:spcAft>
                          <a:spcPts val="0"/>
                        </a:spcAft>
                        <a:buClr>
                          <a:srgbClr val="FFFFFF"/>
                        </a:buClr>
                        <a:buSzPts val="1125"/>
                        <a:buFont typeface="Calibri"/>
                        <a:buNone/>
                      </a:pPr>
                      <a:r>
                        <a:rPr b="1" lang="en-US" sz="1125" u="none" cap="none" strike="noStrike">
                          <a:solidFill>
                            <a:srgbClr val="FFFFFF"/>
                          </a:solidFill>
                        </a:rPr>
                        <a:t>HTTP marker</a:t>
                      </a:r>
                      <a:endParaRPr/>
                    </a:p>
                  </a:txBody>
                  <a:tcPr marT="38100" marB="38100" marR="47625" marL="47625" anchor="ctr">
                    <a:solidFill>
                      <a:srgbClr val="163A5F"/>
                    </a:solidFill>
                  </a:tcPr>
                </a:tc>
                <a:tc>
                  <a:txBody>
                    <a:bodyPr/>
                    <a:lstStyle/>
                    <a:p>
                      <a:pPr indent="0" lvl="0" marL="0" marR="0" rtl="0" algn="ctr">
                        <a:spcBef>
                          <a:spcPts val="0"/>
                        </a:spcBef>
                        <a:spcAft>
                          <a:spcPts val="0"/>
                        </a:spcAft>
                        <a:buClr>
                          <a:srgbClr val="FFFFFF"/>
                        </a:buClr>
                        <a:buSzPts val="1125"/>
                        <a:buFont typeface="Calibri"/>
                        <a:buNone/>
                      </a:pPr>
                      <a:r>
                        <a:rPr b="1" lang="en-US" sz="1125" u="none" cap="none" strike="noStrike">
                          <a:solidFill>
                            <a:srgbClr val="FFFFFF"/>
                          </a:solidFill>
                        </a:rPr>
                        <a:t>Interpretation</a:t>
                      </a:r>
                      <a:endParaRPr/>
                    </a:p>
                  </a:txBody>
                  <a:tcPr marT="38100" marB="38100" marR="47625" marL="47625" anchor="ctr">
                    <a:solidFill>
                      <a:srgbClr val="163A5F"/>
                    </a:solidFill>
                  </a:tcPr>
                </a:tc>
              </a:tr>
              <a:tr h="585800">
                <a:tc>
                  <a:txBody>
                    <a:bodyPr/>
                    <a:lstStyle/>
                    <a:p>
                      <a:pPr indent="0" lvl="0" marL="0" marR="0" rtl="0" algn="l">
                        <a:spcBef>
                          <a:spcPts val="0"/>
                        </a:spcBef>
                        <a:spcAft>
                          <a:spcPts val="0"/>
                        </a:spcAft>
                        <a:buClr>
                          <a:srgbClr val="111418"/>
                        </a:buClr>
                        <a:buSzPts val="1200"/>
                        <a:buFont typeface="Calibri"/>
                        <a:buNone/>
                      </a:pPr>
                      <a:r>
                        <a:rPr b="1" lang="en-US" sz="1200" u="none" cap="none" strike="noStrike">
                          <a:solidFill>
                            <a:srgbClr val="111418"/>
                          </a:solidFill>
                        </a:rPr>
                        <a:t>encrypted_tun0.pcap</a:t>
                      </a:r>
                      <a:endParaRPr/>
                    </a:p>
                  </a:txBody>
                  <a:tcPr marT="38100" marB="38100" marR="57150" marL="76200" anchor="ctr">
                    <a:solidFill>
                      <a:srgbClr val="F0F2F4"/>
                    </a:solidFill>
                  </a:tcPr>
                </a:tc>
                <a:tc>
                  <a:txBody>
                    <a:bodyPr/>
                    <a:lstStyle/>
                    <a:p>
                      <a:pPr indent="0" lvl="0" marL="0" marR="0" rtl="0" algn="ctr">
                        <a:spcBef>
                          <a:spcPts val="0"/>
                        </a:spcBef>
                        <a:spcAft>
                          <a:spcPts val="0"/>
                        </a:spcAft>
                        <a:buClr>
                          <a:srgbClr val="111418"/>
                        </a:buClr>
                        <a:buSzPts val="1200"/>
                        <a:buFont typeface="Calibri"/>
                        <a:buNone/>
                      </a:pPr>
                      <a:r>
                        <a:rPr lang="en-US" sz="1200" u="none" cap="none" strike="noStrike">
                          <a:solidFill>
                            <a:srgbClr val="111418"/>
                          </a:solidFill>
                        </a:rPr>
                        <a:t>tun0 / encrypted</a:t>
                      </a:r>
                      <a:endParaRPr/>
                    </a:p>
                  </a:txBody>
                  <a:tcPr marT="38100" marB="38100" marR="57150" marL="57150" anchor="ctr">
                    <a:solidFill>
                      <a:srgbClr val="FFFFFF"/>
                    </a:solidFill>
                  </a:tcPr>
                </a:tc>
                <a:tc>
                  <a:txBody>
                    <a:bodyPr/>
                    <a:lstStyle/>
                    <a:p>
                      <a:pPr indent="0" lvl="0" marL="0" marR="0" rtl="0" algn="ctr">
                        <a:spcBef>
                          <a:spcPts val="0"/>
                        </a:spcBef>
                        <a:spcAft>
                          <a:spcPts val="0"/>
                        </a:spcAft>
                        <a:buClr>
                          <a:srgbClr val="111418"/>
                        </a:buClr>
                        <a:buSzPts val="1200"/>
                        <a:buFont typeface="Calibri"/>
                        <a:buNone/>
                      </a:pPr>
                      <a:r>
                        <a:rPr lang="en-US" sz="1200" u="none" cap="none" strike="noStrike">
                          <a:solidFill>
                            <a:srgbClr val="111418"/>
                          </a:solidFill>
                        </a:rPr>
                        <a:t>1,018</a:t>
                      </a:r>
                      <a:endParaRPr/>
                    </a:p>
                  </a:txBody>
                  <a:tcPr marT="38100" marB="38100" marR="57150" marL="57150" anchor="ctr">
                    <a:solidFill>
                      <a:srgbClr val="FFFFFF"/>
                    </a:solidFill>
                  </a:tcPr>
                </a:tc>
                <a:tc>
                  <a:txBody>
                    <a:bodyPr/>
                    <a:lstStyle/>
                    <a:p>
                      <a:pPr indent="0" lvl="0" marL="0" marR="0" rtl="0" algn="ctr">
                        <a:spcBef>
                          <a:spcPts val="0"/>
                        </a:spcBef>
                        <a:spcAft>
                          <a:spcPts val="0"/>
                        </a:spcAft>
                        <a:buClr>
                          <a:srgbClr val="111418"/>
                        </a:buClr>
                        <a:buSzPts val="1200"/>
                        <a:buFont typeface="Calibri"/>
                        <a:buNone/>
                      </a:pPr>
                      <a:r>
                        <a:rPr lang="en-US" sz="1200" u="none" cap="none" strike="noStrike">
                          <a:solidFill>
                            <a:srgbClr val="111418"/>
                          </a:solidFill>
                        </a:rPr>
                        <a:t>n/a</a:t>
                      </a:r>
                      <a:endParaRPr/>
                    </a:p>
                  </a:txBody>
                  <a:tcPr marT="38100" marB="38100" marR="57150" marL="57150" anchor="ctr">
                    <a:solidFill>
                      <a:srgbClr val="FFFFFF"/>
                    </a:solidFill>
                  </a:tcPr>
                </a:tc>
                <a:tc>
                  <a:txBody>
                    <a:bodyPr/>
                    <a:lstStyle/>
                    <a:p>
                      <a:pPr indent="0" lvl="0" marL="0" marR="0" rtl="0" algn="ctr">
                        <a:spcBef>
                          <a:spcPts val="0"/>
                        </a:spcBef>
                        <a:spcAft>
                          <a:spcPts val="0"/>
                        </a:spcAft>
                        <a:buClr>
                          <a:srgbClr val="111418"/>
                        </a:buClr>
                        <a:buSzPts val="1200"/>
                        <a:buFont typeface="Calibri"/>
                        <a:buNone/>
                      </a:pPr>
                      <a:r>
                        <a:rPr lang="en-US" sz="1200" u="none" cap="none" strike="noStrike">
                          <a:solidFill>
                            <a:srgbClr val="111418"/>
                          </a:solidFill>
                        </a:rPr>
                        <a:t>present</a:t>
                      </a:r>
                      <a:endParaRPr/>
                    </a:p>
                  </a:txBody>
                  <a:tcPr marT="38100" marB="38100" marR="57150" marL="57150" anchor="ctr">
                    <a:solidFill>
                      <a:srgbClr val="FFFFFF"/>
                    </a:solidFill>
                  </a:tcPr>
                </a:tc>
                <a:tc>
                  <a:txBody>
                    <a:bodyPr/>
                    <a:lstStyle/>
                    <a:p>
                      <a:pPr indent="0" lvl="0" marL="0" marR="0" rtl="0" algn="ctr">
                        <a:spcBef>
                          <a:spcPts val="0"/>
                        </a:spcBef>
                        <a:spcAft>
                          <a:spcPts val="0"/>
                        </a:spcAft>
                        <a:buClr>
                          <a:srgbClr val="111418"/>
                        </a:buClr>
                        <a:buSzPts val="1200"/>
                        <a:buFont typeface="Calibri"/>
                        <a:buNone/>
                      </a:pPr>
                      <a:r>
                        <a:rPr lang="en-US" sz="1200" u="none" cap="none" strike="noStrike">
                          <a:solidFill>
                            <a:srgbClr val="111418"/>
                          </a:solidFill>
                        </a:rPr>
                        <a:t>Inner packet is plaintext at the virtual interface</a:t>
                      </a:r>
                      <a:endParaRPr/>
                    </a:p>
                  </a:txBody>
                  <a:tcPr marT="38100" marB="38100" marR="57150" marL="57150" anchor="ctr">
                    <a:solidFill>
                      <a:srgbClr val="FFFFFF"/>
                    </a:solidFill>
                  </a:tcPr>
                </a:tc>
              </a:tr>
              <a:tr h="585800">
                <a:tc>
                  <a:txBody>
                    <a:bodyPr/>
                    <a:lstStyle/>
                    <a:p>
                      <a:pPr indent="0" lvl="0" marL="0" marR="0" rtl="0" algn="l">
                        <a:spcBef>
                          <a:spcPts val="0"/>
                        </a:spcBef>
                        <a:spcAft>
                          <a:spcPts val="0"/>
                        </a:spcAft>
                        <a:buClr>
                          <a:srgbClr val="111418"/>
                        </a:buClr>
                        <a:buSzPts val="1200"/>
                        <a:buFont typeface="Calibri"/>
                        <a:buNone/>
                      </a:pPr>
                      <a:r>
                        <a:rPr b="1" lang="en-US" sz="1200" u="none" cap="none" strike="noStrike">
                          <a:solidFill>
                            <a:srgbClr val="111418"/>
                          </a:solidFill>
                        </a:rPr>
                        <a:t>encrypted_wlan0.pcap</a:t>
                      </a:r>
                      <a:endParaRPr/>
                    </a:p>
                  </a:txBody>
                  <a:tcPr marT="38100" marB="38100" marR="57150" marL="76200" anchor="ctr">
                    <a:solidFill>
                      <a:srgbClr val="F0F2F4"/>
                    </a:solidFill>
                  </a:tcPr>
                </a:tc>
                <a:tc>
                  <a:txBody>
                    <a:bodyPr/>
                    <a:lstStyle/>
                    <a:p>
                      <a:pPr indent="0" lvl="0" marL="0" marR="0" rtl="0" algn="ctr">
                        <a:spcBef>
                          <a:spcPts val="0"/>
                        </a:spcBef>
                        <a:spcAft>
                          <a:spcPts val="0"/>
                        </a:spcAft>
                        <a:buClr>
                          <a:srgbClr val="111418"/>
                        </a:buClr>
                        <a:buSzPts val="1200"/>
                        <a:buFont typeface="Calibri"/>
                        <a:buNone/>
                      </a:pPr>
                      <a:r>
                        <a:rPr lang="en-US" sz="1200" u="none" cap="none" strike="noStrike">
                          <a:solidFill>
                            <a:srgbClr val="111418"/>
                          </a:solidFill>
                        </a:rPr>
                        <a:t>wlan0 / encrypted</a:t>
                      </a:r>
                      <a:endParaRPr/>
                    </a:p>
                  </a:txBody>
                  <a:tcPr marT="38100" marB="38100" marR="57150" marL="57150" anchor="ctr">
                    <a:solidFill>
                      <a:srgbClr val="FFFFFF"/>
                    </a:solidFill>
                  </a:tcPr>
                </a:tc>
                <a:tc>
                  <a:txBody>
                    <a:bodyPr/>
                    <a:lstStyle/>
                    <a:p>
                      <a:pPr indent="0" lvl="0" marL="0" marR="0" rtl="0" algn="ctr">
                        <a:spcBef>
                          <a:spcPts val="0"/>
                        </a:spcBef>
                        <a:spcAft>
                          <a:spcPts val="0"/>
                        </a:spcAft>
                        <a:buClr>
                          <a:srgbClr val="111418"/>
                        </a:buClr>
                        <a:buSzPts val="1200"/>
                        <a:buFont typeface="Calibri"/>
                        <a:buNone/>
                      </a:pPr>
                      <a:r>
                        <a:rPr lang="en-US" sz="1200" u="none" cap="none" strike="noStrike">
                          <a:solidFill>
                            <a:srgbClr val="111418"/>
                          </a:solidFill>
                        </a:rPr>
                        <a:t>1,878</a:t>
                      </a:r>
                      <a:endParaRPr/>
                    </a:p>
                  </a:txBody>
                  <a:tcPr marT="38100" marB="38100" marR="57150" marL="57150" anchor="ctr">
                    <a:solidFill>
                      <a:srgbClr val="FFFFFF"/>
                    </a:solidFill>
                  </a:tcPr>
                </a:tc>
                <a:tc>
                  <a:txBody>
                    <a:bodyPr/>
                    <a:lstStyle/>
                    <a:p>
                      <a:pPr indent="0" lvl="0" marL="0" marR="0" rtl="0" algn="ctr">
                        <a:spcBef>
                          <a:spcPts val="0"/>
                        </a:spcBef>
                        <a:spcAft>
                          <a:spcPts val="0"/>
                        </a:spcAft>
                        <a:buClr>
                          <a:srgbClr val="111418"/>
                        </a:buClr>
                        <a:buSzPts val="1200"/>
                        <a:buFont typeface="Calibri"/>
                        <a:buNone/>
                      </a:pPr>
                      <a:r>
                        <a:rPr lang="en-US" sz="1200" u="none" cap="none" strike="noStrike">
                          <a:solidFill>
                            <a:srgbClr val="111418"/>
                          </a:solidFill>
                        </a:rPr>
                        <a:t>present</a:t>
                      </a:r>
                      <a:endParaRPr/>
                    </a:p>
                  </a:txBody>
                  <a:tcPr marT="38100" marB="38100" marR="57150" marL="57150" anchor="ctr">
                    <a:solidFill>
                      <a:srgbClr val="FFFFFF"/>
                    </a:solidFill>
                  </a:tcPr>
                </a:tc>
                <a:tc>
                  <a:txBody>
                    <a:bodyPr/>
                    <a:lstStyle/>
                    <a:p>
                      <a:pPr indent="0" lvl="0" marL="0" marR="0" rtl="0" algn="ctr">
                        <a:spcBef>
                          <a:spcPts val="0"/>
                        </a:spcBef>
                        <a:spcAft>
                          <a:spcPts val="0"/>
                        </a:spcAft>
                        <a:buClr>
                          <a:srgbClr val="16876F"/>
                        </a:buClr>
                        <a:buSzPts val="1200"/>
                        <a:buFont typeface="Calibri"/>
                        <a:buNone/>
                      </a:pPr>
                      <a:r>
                        <a:rPr b="1" lang="en-US" sz="1200" u="none" cap="none" strike="noStrike">
                          <a:solidFill>
                            <a:srgbClr val="16876F"/>
                          </a:solidFill>
                        </a:rPr>
                        <a:t>absent</a:t>
                      </a:r>
                      <a:endParaRPr/>
                    </a:p>
                  </a:txBody>
                  <a:tcPr marT="38100" marB="38100" marR="57150" marL="57150" anchor="ctr">
                    <a:solidFill>
                      <a:srgbClr val="DDF3EB"/>
                    </a:solidFill>
                  </a:tcPr>
                </a:tc>
                <a:tc>
                  <a:txBody>
                    <a:bodyPr/>
                    <a:lstStyle/>
                    <a:p>
                      <a:pPr indent="0" lvl="0" marL="0" marR="0" rtl="0" algn="ctr">
                        <a:spcBef>
                          <a:spcPts val="0"/>
                        </a:spcBef>
                        <a:spcAft>
                          <a:spcPts val="0"/>
                        </a:spcAft>
                        <a:buClr>
                          <a:srgbClr val="111418"/>
                        </a:buClr>
                        <a:buSzPts val="1200"/>
                        <a:buFont typeface="Calibri"/>
                        <a:buNone/>
                      </a:pPr>
                      <a:r>
                        <a:rPr lang="en-US" sz="1200" u="none" cap="none" strike="noStrike">
                          <a:solidFill>
                            <a:srgbClr val="111418"/>
                          </a:solidFill>
                        </a:rPr>
                        <a:t>Header visible as AAD; inner IP and HTTP body encrypted</a:t>
                      </a:r>
                      <a:endParaRPr/>
                    </a:p>
                  </a:txBody>
                  <a:tcPr marT="38100" marB="38100" marR="57150" marL="57150" anchor="ctr">
                    <a:solidFill>
                      <a:srgbClr val="FFFFFF"/>
                    </a:solidFill>
                  </a:tcPr>
                </a:tc>
              </a:tr>
              <a:tr h="585800">
                <a:tc>
                  <a:txBody>
                    <a:bodyPr/>
                    <a:lstStyle/>
                    <a:p>
                      <a:pPr indent="0" lvl="0" marL="0" marR="0" rtl="0" algn="l">
                        <a:spcBef>
                          <a:spcPts val="0"/>
                        </a:spcBef>
                        <a:spcAft>
                          <a:spcPts val="0"/>
                        </a:spcAft>
                        <a:buClr>
                          <a:srgbClr val="111418"/>
                        </a:buClr>
                        <a:buSzPts val="1200"/>
                        <a:buFont typeface="Calibri"/>
                        <a:buNone/>
                      </a:pPr>
                      <a:r>
                        <a:rPr b="1" lang="en-US" sz="1200" u="none" cap="none" strike="noStrike">
                          <a:solidFill>
                            <a:srgbClr val="111418"/>
                          </a:solidFill>
                        </a:rPr>
                        <a:t>plaintext_wlan0.pcap</a:t>
                      </a:r>
                      <a:endParaRPr/>
                    </a:p>
                  </a:txBody>
                  <a:tcPr marT="38100" marB="38100" marR="57150" marL="76200" anchor="ctr">
                    <a:solidFill>
                      <a:srgbClr val="F0F2F4"/>
                    </a:solidFill>
                  </a:tcPr>
                </a:tc>
                <a:tc>
                  <a:txBody>
                    <a:bodyPr/>
                    <a:lstStyle/>
                    <a:p>
                      <a:pPr indent="0" lvl="0" marL="0" marR="0" rtl="0" algn="ctr">
                        <a:spcBef>
                          <a:spcPts val="0"/>
                        </a:spcBef>
                        <a:spcAft>
                          <a:spcPts val="0"/>
                        </a:spcAft>
                        <a:buClr>
                          <a:srgbClr val="111418"/>
                        </a:buClr>
                        <a:buSzPts val="1200"/>
                        <a:buFont typeface="Calibri"/>
                        <a:buNone/>
                      </a:pPr>
                      <a:r>
                        <a:rPr lang="en-US" sz="1200" u="none" cap="none" strike="noStrike">
                          <a:solidFill>
                            <a:srgbClr val="111418"/>
                          </a:solidFill>
                        </a:rPr>
                        <a:t>wlan0 / plaintext</a:t>
                      </a:r>
                      <a:endParaRPr/>
                    </a:p>
                  </a:txBody>
                  <a:tcPr marT="38100" marB="38100" marR="57150" marL="57150" anchor="ctr">
                    <a:solidFill>
                      <a:srgbClr val="FFFFFF"/>
                    </a:solidFill>
                  </a:tcPr>
                </a:tc>
                <a:tc>
                  <a:txBody>
                    <a:bodyPr/>
                    <a:lstStyle/>
                    <a:p>
                      <a:pPr indent="0" lvl="0" marL="0" marR="0" rtl="0" algn="ctr">
                        <a:spcBef>
                          <a:spcPts val="0"/>
                        </a:spcBef>
                        <a:spcAft>
                          <a:spcPts val="0"/>
                        </a:spcAft>
                        <a:buClr>
                          <a:srgbClr val="111418"/>
                        </a:buClr>
                        <a:buSzPts val="1200"/>
                        <a:buFont typeface="Calibri"/>
                        <a:buNone/>
                      </a:pPr>
                      <a:r>
                        <a:rPr lang="en-US" sz="1200" u="none" cap="none" strike="noStrike">
                          <a:solidFill>
                            <a:srgbClr val="111418"/>
                          </a:solidFill>
                        </a:rPr>
                        <a:t>1,718</a:t>
                      </a:r>
                      <a:endParaRPr/>
                    </a:p>
                  </a:txBody>
                  <a:tcPr marT="38100" marB="38100" marR="57150" marL="57150" anchor="ctr">
                    <a:solidFill>
                      <a:srgbClr val="FFFFFF"/>
                    </a:solidFill>
                  </a:tcPr>
                </a:tc>
                <a:tc>
                  <a:txBody>
                    <a:bodyPr/>
                    <a:lstStyle/>
                    <a:p>
                      <a:pPr indent="0" lvl="0" marL="0" marR="0" rtl="0" algn="ctr">
                        <a:spcBef>
                          <a:spcPts val="0"/>
                        </a:spcBef>
                        <a:spcAft>
                          <a:spcPts val="0"/>
                        </a:spcAft>
                        <a:buClr>
                          <a:srgbClr val="111418"/>
                        </a:buClr>
                        <a:buSzPts val="1200"/>
                        <a:buFont typeface="Calibri"/>
                        <a:buNone/>
                      </a:pPr>
                      <a:r>
                        <a:rPr lang="en-US" sz="1200" u="none" cap="none" strike="noStrike">
                          <a:solidFill>
                            <a:srgbClr val="111418"/>
                          </a:solidFill>
                        </a:rPr>
                        <a:t>present</a:t>
                      </a:r>
                      <a:endParaRPr/>
                    </a:p>
                  </a:txBody>
                  <a:tcPr marT="38100" marB="38100" marR="57150" marL="57150" anchor="ctr">
                    <a:solidFill>
                      <a:srgbClr val="FFFFFF"/>
                    </a:solidFill>
                  </a:tcPr>
                </a:tc>
                <a:tc>
                  <a:txBody>
                    <a:bodyPr/>
                    <a:lstStyle/>
                    <a:p>
                      <a:pPr indent="0" lvl="0" marL="0" marR="0" rtl="0" algn="ctr">
                        <a:spcBef>
                          <a:spcPts val="0"/>
                        </a:spcBef>
                        <a:spcAft>
                          <a:spcPts val="0"/>
                        </a:spcAft>
                        <a:buClr>
                          <a:srgbClr val="111418"/>
                        </a:buClr>
                        <a:buSzPts val="1200"/>
                        <a:buFont typeface="Calibri"/>
                        <a:buNone/>
                      </a:pPr>
                      <a:r>
                        <a:rPr lang="en-US" sz="1200" u="none" cap="none" strike="noStrike">
                          <a:solidFill>
                            <a:srgbClr val="111418"/>
                          </a:solidFill>
                        </a:rPr>
                        <a:t>present</a:t>
                      </a:r>
                      <a:endParaRPr/>
                    </a:p>
                  </a:txBody>
                  <a:tcPr marT="38100" marB="38100" marR="57150" marL="57150" anchor="ctr">
                    <a:solidFill>
                      <a:srgbClr val="FFFFFF"/>
                    </a:solidFill>
                  </a:tcPr>
                </a:tc>
                <a:tc>
                  <a:txBody>
                    <a:bodyPr/>
                    <a:lstStyle/>
                    <a:p>
                      <a:pPr indent="0" lvl="0" marL="0" marR="0" rtl="0" algn="ctr">
                        <a:spcBef>
                          <a:spcPts val="0"/>
                        </a:spcBef>
                        <a:spcAft>
                          <a:spcPts val="0"/>
                        </a:spcAft>
                        <a:buClr>
                          <a:srgbClr val="111418"/>
                        </a:buClr>
                        <a:buSzPts val="1200"/>
                        <a:buFont typeface="Calibri"/>
                        <a:buNone/>
                      </a:pPr>
                      <a:r>
                        <a:rPr lang="en-US" sz="1200" u="none" cap="none" strike="noStrike">
                          <a:solidFill>
                            <a:srgbClr val="111418"/>
                          </a:solidFill>
                        </a:rPr>
                        <a:t>Control confirms the marker is observable without AEAD</a:t>
                      </a:r>
                      <a:endParaRPr/>
                    </a:p>
                  </a:txBody>
                  <a:tcPr marT="38100" marB="38100" marR="57150" marL="57150" anchor="ctr">
                    <a:solidFill>
                      <a:srgbClr val="FFFFFF"/>
                    </a:solidFill>
                  </a:tcPr>
                </a:tc>
              </a:tr>
            </a:tbl>
          </a:graphicData>
        </a:graphic>
      </p:graphicFrame>
      <p:sp>
        <p:nvSpPr>
          <p:cNvPr id="212" name="Google Shape;212;p10"/>
          <p:cNvSpPr/>
          <p:nvPr/>
        </p:nvSpPr>
        <p:spPr>
          <a:xfrm>
            <a:off x="4429050" y="4233925"/>
            <a:ext cx="3333900" cy="2286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DC7628"/>
              </a:buClr>
              <a:buSzPts val="1125"/>
              <a:buFont typeface="Arial"/>
              <a:buNone/>
            </a:pPr>
            <a:r>
              <a:rPr b="1" lang="en-US" sz="1125">
                <a:solidFill>
                  <a:srgbClr val="DC7628"/>
                </a:solidFill>
              </a:rPr>
              <a:t>Visible metadata on encrypted wlan0</a:t>
            </a:r>
            <a:endParaRPr/>
          </a:p>
        </p:txBody>
      </p:sp>
      <p:sp>
        <p:nvSpPr>
          <p:cNvPr id="213" name="Google Shape;213;p10"/>
          <p:cNvSpPr/>
          <p:nvPr/>
        </p:nvSpPr>
        <p:spPr>
          <a:xfrm>
            <a:off x="4429050" y="4580100"/>
            <a:ext cx="3333900" cy="705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111418"/>
              </a:buClr>
              <a:buSzPts val="1425"/>
              <a:buFont typeface="Arial"/>
              <a:buNone/>
            </a:pPr>
            <a:r>
              <a:rPr b="0" lang="en-US" sz="1425">
                <a:solidFill>
                  <a:srgbClr val="111418"/>
                </a:solidFill>
              </a:rPr>
              <a:t>10.7.51.1 ↔ 10.7.50.242</a:t>
            </a:r>
            <a:endParaRPr/>
          </a:p>
          <a:p>
            <a:pPr indent="0" lvl="0" marL="0" marR="0" rtl="0" algn="ctr">
              <a:spcBef>
                <a:spcPts val="0"/>
              </a:spcBef>
              <a:spcAft>
                <a:spcPts val="0"/>
              </a:spcAft>
              <a:buClr>
                <a:srgbClr val="111418"/>
              </a:buClr>
              <a:buSzPts val="1425"/>
              <a:buFont typeface="Arial"/>
              <a:buNone/>
            </a:pPr>
            <a:r>
              <a:rPr b="0" lang="en-US" sz="1425">
                <a:solidFill>
                  <a:srgbClr val="111418"/>
                </a:solidFill>
              </a:rPr>
              <a:t>UDP/55555 · lengths · timing · direction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8" name="Shape 218"/>
        <p:cNvGrpSpPr/>
        <p:nvPr/>
      </p:nvGrpSpPr>
      <p:grpSpPr>
        <a:xfrm>
          <a:off x="0" y="0"/>
          <a:ext cx="0" cy="0"/>
          <a:chOff x="0" y="0"/>
          <a:chExt cx="0" cy="0"/>
        </a:xfrm>
      </p:grpSpPr>
      <p:sp>
        <p:nvSpPr>
          <p:cNvPr id="219" name="Google Shape;219;p11"/>
          <p:cNvSpPr/>
          <p:nvPr/>
        </p:nvSpPr>
        <p:spPr>
          <a:xfrm>
            <a:off x="457200" y="171450"/>
            <a:ext cx="4762500" cy="209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D8DFF"/>
              </a:buClr>
              <a:buSzPts val="1050"/>
              <a:buFont typeface="Arial"/>
              <a:buNone/>
            </a:pPr>
            <a:r>
              <a:rPr b="1" lang="en-US" sz="1050">
                <a:solidFill>
                  <a:srgbClr val="3D8DFF"/>
                </a:solidFill>
              </a:rPr>
              <a:t> PERFORMANCE</a:t>
            </a:r>
            <a:endParaRPr/>
          </a:p>
        </p:txBody>
      </p:sp>
      <p:cxnSp>
        <p:nvCxnSpPr>
          <p:cNvPr id="220" name="Google Shape;220;p11"/>
          <p:cNvCxnSpPr/>
          <p:nvPr/>
        </p:nvCxnSpPr>
        <p:spPr>
          <a:xfrm>
            <a:off x="457200" y="1257300"/>
            <a:ext cx="11277600" cy="0"/>
          </a:xfrm>
          <a:prstGeom prst="straightConnector1">
            <a:avLst/>
          </a:prstGeom>
          <a:noFill/>
          <a:ln cap="flat" cmpd="sng" w="9525">
            <a:solidFill>
              <a:srgbClr val="B8BCC4"/>
            </a:solidFill>
            <a:prstDash val="solid"/>
            <a:round/>
            <a:headEnd len="sm" w="sm" type="none"/>
            <a:tailEnd len="sm" w="sm" type="none"/>
          </a:ln>
        </p:spPr>
      </p:cxnSp>
      <p:sp>
        <p:nvSpPr>
          <p:cNvPr id="221" name="Google Shape;221;p11"/>
          <p:cNvSpPr/>
          <p:nvPr/>
        </p:nvSpPr>
        <p:spPr>
          <a:xfrm>
            <a:off x="11049000" y="6419850"/>
            <a:ext cx="647700" cy="1905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5E6672"/>
              </a:buClr>
              <a:buSzPts val="900"/>
              <a:buFont typeface="Arial"/>
              <a:buNone/>
            </a:pPr>
            <a:r>
              <a:rPr b="0" lang="en-US" sz="900">
                <a:solidFill>
                  <a:srgbClr val="5E6672"/>
                </a:solidFill>
              </a:rPr>
              <a:t>0</a:t>
            </a:r>
            <a:r>
              <a:rPr lang="en-US" sz="900">
                <a:solidFill>
                  <a:srgbClr val="5E6672"/>
                </a:solidFill>
              </a:rPr>
              <a:t>9</a:t>
            </a:r>
            <a:endParaRPr/>
          </a:p>
        </p:txBody>
      </p:sp>
      <p:sp>
        <p:nvSpPr>
          <p:cNvPr id="222" name="Google Shape;222;p11"/>
          <p:cNvSpPr/>
          <p:nvPr/>
        </p:nvSpPr>
        <p:spPr>
          <a:xfrm>
            <a:off x="457200" y="552450"/>
            <a:ext cx="112395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625">
                <a:solidFill>
                  <a:srgbClr val="111418"/>
                </a:solidFill>
              </a:rPr>
              <a:t>A → B encrypted TCP: 48.73 Mbps</a:t>
            </a:r>
            <a:endParaRPr/>
          </a:p>
        </p:txBody>
      </p:sp>
      <p:sp>
        <p:nvSpPr>
          <p:cNvPr id="223" name="Google Shape;223;p11"/>
          <p:cNvSpPr/>
          <p:nvPr/>
        </p:nvSpPr>
        <p:spPr>
          <a:xfrm>
            <a:off x="609600" y="1390650"/>
            <a:ext cx="6858000" cy="209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050">
                <a:solidFill>
                  <a:srgbClr val="3D8DFF"/>
                </a:solidFill>
              </a:rPr>
              <a:t>TCP SENDER THROUGHPUT · MEAN ± SAMPLE SD</a:t>
            </a:r>
            <a:endParaRPr/>
          </a:p>
        </p:txBody>
      </p:sp>
      <p:pic>
        <p:nvPicPr>
          <p:cNvPr id="224" name="Google Shape;224;p11"/>
          <p:cNvPicPr preferRelativeResize="0"/>
          <p:nvPr/>
        </p:nvPicPr>
        <p:blipFill rotWithShape="1">
          <a:blip r:embed="rId3">
            <a:alphaModFix/>
          </a:blip>
          <a:srcRect b="0" l="0" r="0" t="0"/>
          <a:stretch/>
        </p:blipFill>
        <p:spPr>
          <a:xfrm>
            <a:off x="609600" y="1771650"/>
            <a:ext cx="6858000" cy="3638550"/>
          </a:xfrm>
          <a:prstGeom prst="rect">
            <a:avLst/>
          </a:prstGeom>
          <a:noFill/>
          <a:ln>
            <a:noFill/>
          </a:ln>
        </p:spPr>
      </p:pic>
      <p:sp>
        <p:nvSpPr>
          <p:cNvPr id="225" name="Google Shape;225;p11"/>
          <p:cNvSpPr/>
          <p:nvPr/>
        </p:nvSpPr>
        <p:spPr>
          <a:xfrm>
            <a:off x="8096250" y="1600200"/>
            <a:ext cx="3143250" cy="209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050">
                <a:solidFill>
                  <a:srgbClr val="16876F"/>
                </a:solidFill>
              </a:rPr>
              <a:t>MEASURED VALUES</a:t>
            </a:r>
            <a:endParaRPr/>
          </a:p>
        </p:txBody>
      </p:sp>
      <p:sp>
        <p:nvSpPr>
          <p:cNvPr id="226" name="Google Shape;226;p11"/>
          <p:cNvSpPr/>
          <p:nvPr/>
        </p:nvSpPr>
        <p:spPr>
          <a:xfrm>
            <a:off x="8096250" y="1943100"/>
            <a:ext cx="3238500" cy="2400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500">
                <a:solidFill>
                  <a:srgbClr val="111418"/>
                </a:solidFill>
              </a:rPr>
              <a:t>Direct</a:t>
            </a:r>
            <a:endParaRPr/>
          </a:p>
          <a:p>
            <a:pPr indent="0" lvl="0" marL="0" marR="0" rtl="0" algn="l">
              <a:spcBef>
                <a:spcPts val="0"/>
              </a:spcBef>
              <a:spcAft>
                <a:spcPts val="0"/>
              </a:spcAft>
              <a:buNone/>
            </a:pPr>
            <a:r>
              <a:rPr b="0" lang="en-US" sz="1500">
                <a:solidFill>
                  <a:srgbClr val="111418"/>
                </a:solidFill>
              </a:rPr>
              <a:t>50.09 ± 4.54 Mbps</a:t>
            </a:r>
            <a:endParaRPr/>
          </a:p>
          <a:p>
            <a:pPr indent="0" lvl="0" marL="0" marR="0" rtl="0" algn="l">
              <a:spcBef>
                <a:spcPts val="0"/>
              </a:spcBef>
              <a:spcAft>
                <a:spcPts val="0"/>
              </a:spcAft>
              <a:buNone/>
            </a:pPr>
            <a:r>
              <a:t/>
            </a:r>
            <a:endParaRPr b="0" sz="1500">
              <a:solidFill>
                <a:srgbClr val="111418"/>
              </a:solidFill>
            </a:endParaRPr>
          </a:p>
          <a:p>
            <a:pPr indent="0" lvl="0" marL="0" marR="0" rtl="0" algn="l">
              <a:spcBef>
                <a:spcPts val="0"/>
              </a:spcBef>
              <a:spcAft>
                <a:spcPts val="0"/>
              </a:spcAft>
              <a:buNone/>
            </a:pPr>
            <a:r>
              <a:rPr b="0" lang="en-US" sz="1500">
                <a:solidFill>
                  <a:srgbClr val="111418"/>
                </a:solidFill>
              </a:rPr>
              <a:t>Plaintext tunnel</a:t>
            </a:r>
            <a:endParaRPr/>
          </a:p>
          <a:p>
            <a:pPr indent="0" lvl="0" marL="0" marR="0" rtl="0" algn="l">
              <a:spcBef>
                <a:spcPts val="0"/>
              </a:spcBef>
              <a:spcAft>
                <a:spcPts val="0"/>
              </a:spcAft>
              <a:buNone/>
            </a:pPr>
            <a:r>
              <a:rPr b="0" lang="en-US" sz="1500">
                <a:solidFill>
                  <a:srgbClr val="111418"/>
                </a:solidFill>
              </a:rPr>
              <a:t>48.70 ± 6.51 Mbps</a:t>
            </a:r>
            <a:endParaRPr/>
          </a:p>
          <a:p>
            <a:pPr indent="0" lvl="0" marL="0" marR="0" rtl="0" algn="l">
              <a:spcBef>
                <a:spcPts val="0"/>
              </a:spcBef>
              <a:spcAft>
                <a:spcPts val="0"/>
              </a:spcAft>
              <a:buNone/>
            </a:pPr>
            <a:r>
              <a:t/>
            </a:r>
            <a:endParaRPr b="0" sz="1500">
              <a:solidFill>
                <a:srgbClr val="111418"/>
              </a:solidFill>
            </a:endParaRPr>
          </a:p>
          <a:p>
            <a:pPr indent="0" lvl="0" marL="0" marR="0" rtl="0" algn="l">
              <a:spcBef>
                <a:spcPts val="0"/>
              </a:spcBef>
              <a:spcAft>
                <a:spcPts val="0"/>
              </a:spcAft>
              <a:buNone/>
            </a:pPr>
            <a:r>
              <a:rPr b="0" lang="en-US" sz="1500">
                <a:solidFill>
                  <a:srgbClr val="111418"/>
                </a:solidFill>
              </a:rPr>
              <a:t>Encrypted tunnel</a:t>
            </a:r>
            <a:endParaRPr/>
          </a:p>
          <a:p>
            <a:pPr indent="0" lvl="0" marL="0" marR="0" rtl="0" algn="l">
              <a:spcBef>
                <a:spcPts val="0"/>
              </a:spcBef>
              <a:spcAft>
                <a:spcPts val="0"/>
              </a:spcAft>
              <a:buNone/>
            </a:pPr>
            <a:r>
              <a:rPr b="0" lang="en-US" sz="1500">
                <a:solidFill>
                  <a:srgbClr val="111418"/>
                </a:solidFill>
              </a:rPr>
              <a:t>48.73 ± 3.61 Mbps</a:t>
            </a:r>
            <a:endParaRPr/>
          </a:p>
        </p:txBody>
      </p:sp>
      <p:sp>
        <p:nvSpPr>
          <p:cNvPr id="227" name="Google Shape;227;p11"/>
          <p:cNvSpPr/>
          <p:nvPr/>
        </p:nvSpPr>
        <p:spPr>
          <a:xfrm>
            <a:off x="8096250" y="4552950"/>
            <a:ext cx="3238500" cy="102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275">
                <a:solidFill>
                  <a:srgbClr val="111418"/>
                </a:solidFill>
              </a:rPr>
              <a:t>Encrypted and plaintext means differ by only 0.03 Mbps.</a:t>
            </a:r>
            <a:endParaRPr/>
          </a:p>
          <a:p>
            <a:pPr indent="0" lvl="0" marL="0" marR="0" rtl="0" algn="l">
              <a:spcBef>
                <a:spcPts val="0"/>
              </a:spcBef>
              <a:spcAft>
                <a:spcPts val="0"/>
              </a:spcAft>
              <a:buNone/>
            </a:pPr>
            <a:r>
              <a:t/>
            </a:r>
            <a:endParaRPr b="0" sz="1275">
              <a:solidFill>
                <a:srgbClr val="111418"/>
              </a:solidFill>
            </a:endParaRPr>
          </a:p>
          <a:p>
            <a:pPr indent="0" lvl="0" marL="0" marR="0" rtl="0" algn="l">
              <a:spcBef>
                <a:spcPts val="0"/>
              </a:spcBef>
              <a:spcAft>
                <a:spcPts val="0"/>
              </a:spcAft>
              <a:buNone/>
            </a:pPr>
            <a:r>
              <a:rPr b="0" lang="en-US" sz="1275">
                <a:solidFill>
                  <a:srgbClr val="111418"/>
                </a:solidFill>
              </a:rPr>
              <a:t>Authenticated encryption adds 4.99 pp CPU on Pi A and 5.13 pp on Pi B.</a:t>
            </a:r>
            <a:endParaRPr/>
          </a:p>
        </p:txBody>
      </p:sp>
      <p:sp>
        <p:nvSpPr>
          <p:cNvPr id="228" name="Google Shape;228;p11"/>
          <p:cNvSpPr/>
          <p:nvPr/>
        </p:nvSpPr>
        <p:spPr>
          <a:xfrm>
            <a:off x="552450" y="5867400"/>
            <a:ext cx="10668000" cy="40005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275">
                <a:solidFill>
                  <a:srgbClr val="111418"/>
                </a:solidFill>
              </a:rPr>
              <a:t>The encrypted tunnel maintains the plaintext throughput level while adding authentication, confidentiality and replay protection.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3" name="Shape 233"/>
        <p:cNvGrpSpPr/>
        <p:nvPr/>
      </p:nvGrpSpPr>
      <p:grpSpPr>
        <a:xfrm>
          <a:off x="0" y="0"/>
          <a:ext cx="0" cy="0"/>
          <a:chOff x="0" y="0"/>
          <a:chExt cx="0" cy="0"/>
        </a:xfrm>
      </p:grpSpPr>
      <p:cxnSp>
        <p:nvCxnSpPr>
          <p:cNvPr id="234" name="Google Shape;234;p12"/>
          <p:cNvCxnSpPr/>
          <p:nvPr/>
        </p:nvCxnSpPr>
        <p:spPr>
          <a:xfrm>
            <a:off x="457200" y="1257300"/>
            <a:ext cx="11277600" cy="0"/>
          </a:xfrm>
          <a:prstGeom prst="straightConnector1">
            <a:avLst/>
          </a:prstGeom>
          <a:noFill/>
          <a:ln cap="flat" cmpd="sng" w="9525">
            <a:solidFill>
              <a:srgbClr val="B8BCC4"/>
            </a:solidFill>
            <a:prstDash val="solid"/>
            <a:round/>
            <a:headEnd len="sm" w="sm" type="none"/>
            <a:tailEnd len="sm" w="sm" type="none"/>
          </a:ln>
        </p:spPr>
      </p:cxnSp>
      <p:sp>
        <p:nvSpPr>
          <p:cNvPr id="235" name="Google Shape;235;p12"/>
          <p:cNvSpPr/>
          <p:nvPr/>
        </p:nvSpPr>
        <p:spPr>
          <a:xfrm>
            <a:off x="514350" y="1390650"/>
            <a:ext cx="4953000" cy="209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D8DFF"/>
              </a:buClr>
              <a:buSzPts val="1050"/>
              <a:buFont typeface="Arial"/>
              <a:buNone/>
            </a:pPr>
            <a:r>
              <a:rPr b="1" lang="en-US" sz="1050">
                <a:solidFill>
                  <a:srgbClr val="3D8DFF"/>
                </a:solidFill>
              </a:rPr>
              <a:t>A → B RTT UNDER TCP LOAD</a:t>
            </a:r>
            <a:endParaRPr/>
          </a:p>
        </p:txBody>
      </p:sp>
      <p:pic>
        <p:nvPicPr>
          <p:cNvPr id="236" name="Google Shape;236;p12"/>
          <p:cNvPicPr preferRelativeResize="0"/>
          <p:nvPr/>
        </p:nvPicPr>
        <p:blipFill rotWithShape="1">
          <a:blip r:embed="rId3">
            <a:alphaModFix/>
          </a:blip>
          <a:srcRect b="0" l="0" r="0" t="0"/>
          <a:stretch/>
        </p:blipFill>
        <p:spPr>
          <a:xfrm>
            <a:off x="514350" y="1676400"/>
            <a:ext cx="5143500" cy="3790950"/>
          </a:xfrm>
          <a:prstGeom prst="rect">
            <a:avLst/>
          </a:prstGeom>
          <a:noFill/>
          <a:ln>
            <a:noFill/>
          </a:ln>
        </p:spPr>
      </p:pic>
      <p:sp>
        <p:nvSpPr>
          <p:cNvPr id="237" name="Google Shape;237;p12"/>
          <p:cNvSpPr/>
          <p:nvPr/>
        </p:nvSpPr>
        <p:spPr>
          <a:xfrm>
            <a:off x="6191250" y="1390650"/>
            <a:ext cx="5238750" cy="209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6876F"/>
              </a:buClr>
              <a:buSzPts val="1050"/>
              <a:buFont typeface="Arial"/>
              <a:buNone/>
            </a:pPr>
            <a:r>
              <a:rPr b="1" lang="en-US" sz="1050">
                <a:solidFill>
                  <a:srgbClr val="16876F"/>
                </a:solidFill>
              </a:rPr>
              <a:t>UDP MAX-EFFORT RECEIVE GOODPUT</a:t>
            </a:r>
            <a:endParaRPr/>
          </a:p>
        </p:txBody>
      </p:sp>
      <p:pic>
        <p:nvPicPr>
          <p:cNvPr id="238" name="Google Shape;238;p12"/>
          <p:cNvPicPr preferRelativeResize="0"/>
          <p:nvPr/>
        </p:nvPicPr>
        <p:blipFill rotWithShape="1">
          <a:blip r:embed="rId4">
            <a:alphaModFix/>
          </a:blip>
          <a:srcRect b="0" l="0" r="0" t="0"/>
          <a:stretch/>
        </p:blipFill>
        <p:spPr>
          <a:xfrm>
            <a:off x="6191250" y="1695261"/>
            <a:ext cx="5238900" cy="3791100"/>
          </a:xfrm>
          <a:prstGeom prst="rect">
            <a:avLst/>
          </a:prstGeom>
          <a:noFill/>
          <a:ln>
            <a:noFill/>
          </a:ln>
        </p:spPr>
      </p:pic>
      <p:sp>
        <p:nvSpPr>
          <p:cNvPr id="239" name="Google Shape;239;p12"/>
          <p:cNvSpPr/>
          <p:nvPr/>
        </p:nvSpPr>
        <p:spPr>
          <a:xfrm>
            <a:off x="11049000" y="6419850"/>
            <a:ext cx="647700" cy="1905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5E6672"/>
              </a:buClr>
              <a:buSzPts val="900"/>
              <a:buFont typeface="Arial"/>
              <a:buNone/>
            </a:pPr>
            <a:r>
              <a:rPr b="0" lang="en-US" sz="900">
                <a:solidFill>
                  <a:srgbClr val="5E6672"/>
                </a:solidFill>
              </a:rPr>
              <a:t>14</a:t>
            </a:r>
            <a:endParaRPr/>
          </a:p>
        </p:txBody>
      </p:sp>
      <p:sp>
        <p:nvSpPr>
          <p:cNvPr id="240" name="Google Shape;240;p12"/>
          <p:cNvSpPr/>
          <p:nvPr/>
        </p:nvSpPr>
        <p:spPr>
          <a:xfrm>
            <a:off x="457200" y="171450"/>
            <a:ext cx="4762500" cy="209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050">
                <a:solidFill>
                  <a:srgbClr val="3D8DFF"/>
                </a:solidFill>
              </a:rPr>
              <a:t>PACKET EXPERIMENTS</a:t>
            </a:r>
            <a:endParaRPr/>
          </a:p>
        </p:txBody>
      </p:sp>
      <p:sp>
        <p:nvSpPr>
          <p:cNvPr id="241" name="Google Shape;241;p12"/>
          <p:cNvSpPr/>
          <p:nvPr/>
        </p:nvSpPr>
        <p:spPr>
          <a:xfrm>
            <a:off x="457200" y="552450"/>
            <a:ext cx="112395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625">
                <a:solidFill>
                  <a:srgbClr val="111418"/>
                </a:solidFill>
              </a:rPr>
              <a:t>Encrypted performance under load</a:t>
            </a:r>
            <a:endParaRPr/>
          </a:p>
        </p:txBody>
      </p:sp>
      <p:sp>
        <p:nvSpPr>
          <p:cNvPr id="242" name="Google Shape;242;p12"/>
          <p:cNvSpPr/>
          <p:nvPr/>
        </p:nvSpPr>
        <p:spPr>
          <a:xfrm>
            <a:off x="552450" y="5791200"/>
            <a:ext cx="10668000" cy="4953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275">
                <a:solidFill>
                  <a:srgbClr val="111418"/>
                </a:solidFill>
              </a:rPr>
              <a:t>Encrypted mode sustains 44.77 ± 4.89 Mbps TCP under load and 37.70 Mbps UDP at 1372 bytes; idle RTT remains 8.70 ± 0.13 ms.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7" name="Shape 247"/>
        <p:cNvGrpSpPr/>
        <p:nvPr/>
      </p:nvGrpSpPr>
      <p:grpSpPr>
        <a:xfrm>
          <a:off x="0" y="0"/>
          <a:ext cx="0" cy="0"/>
          <a:chOff x="0" y="0"/>
          <a:chExt cx="0" cy="0"/>
        </a:xfrm>
      </p:grpSpPr>
      <p:sp>
        <p:nvSpPr>
          <p:cNvPr id="248" name="Google Shape;248;p13"/>
          <p:cNvSpPr/>
          <p:nvPr/>
        </p:nvSpPr>
        <p:spPr>
          <a:xfrm>
            <a:off x="457200" y="171450"/>
            <a:ext cx="4762500" cy="209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D8DFF"/>
              </a:buClr>
              <a:buSzPts val="1050"/>
              <a:buFont typeface="Arial"/>
              <a:buNone/>
            </a:pPr>
            <a:r>
              <a:rPr b="1" lang="en-US" sz="1050">
                <a:solidFill>
                  <a:srgbClr val="3D8DFF"/>
                </a:solidFill>
              </a:rPr>
              <a:t> CONCLUSION</a:t>
            </a:r>
            <a:endParaRPr/>
          </a:p>
        </p:txBody>
      </p:sp>
      <p:sp>
        <p:nvSpPr>
          <p:cNvPr id="249" name="Google Shape;249;p13"/>
          <p:cNvSpPr/>
          <p:nvPr/>
        </p:nvSpPr>
        <p:spPr>
          <a:xfrm>
            <a:off x="457200" y="552450"/>
            <a:ext cx="112395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11418"/>
              </a:buClr>
              <a:buSzPts val="2625"/>
              <a:buFont typeface="Arial"/>
              <a:buNone/>
            </a:pPr>
            <a:r>
              <a:rPr b="1" lang="en-US" sz="2625">
                <a:solidFill>
                  <a:srgbClr val="111418"/>
                </a:solidFill>
              </a:rPr>
              <a:t>Summary and future work</a:t>
            </a:r>
            <a:endParaRPr/>
          </a:p>
        </p:txBody>
      </p:sp>
      <p:cxnSp>
        <p:nvCxnSpPr>
          <p:cNvPr id="250" name="Google Shape;250;p13"/>
          <p:cNvCxnSpPr/>
          <p:nvPr/>
        </p:nvCxnSpPr>
        <p:spPr>
          <a:xfrm>
            <a:off x="457200" y="1257300"/>
            <a:ext cx="11277600" cy="0"/>
          </a:xfrm>
          <a:prstGeom prst="straightConnector1">
            <a:avLst/>
          </a:prstGeom>
          <a:noFill/>
          <a:ln cap="flat" cmpd="sng" w="9525">
            <a:solidFill>
              <a:srgbClr val="B8BCC4"/>
            </a:solidFill>
            <a:prstDash val="solid"/>
            <a:round/>
            <a:headEnd len="sm" w="sm" type="none"/>
            <a:tailEnd len="sm" w="sm" type="none"/>
          </a:ln>
        </p:spPr>
      </p:cxnSp>
      <p:sp>
        <p:nvSpPr>
          <p:cNvPr id="251" name="Google Shape;251;p13"/>
          <p:cNvSpPr/>
          <p:nvPr/>
        </p:nvSpPr>
        <p:spPr>
          <a:xfrm>
            <a:off x="8172450" y="1428750"/>
            <a:ext cx="2952750" cy="209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6876F"/>
              </a:buClr>
              <a:buSzPts val="1050"/>
              <a:buFont typeface="Arial"/>
              <a:buNone/>
            </a:pPr>
            <a:r>
              <a:rPr b="1" lang="en-US" sz="1050">
                <a:solidFill>
                  <a:srgbClr val="16876F"/>
                </a:solidFill>
              </a:rPr>
              <a:t>FUTURE WORK</a:t>
            </a:r>
            <a:endParaRPr/>
          </a:p>
        </p:txBody>
      </p:sp>
      <p:sp>
        <p:nvSpPr>
          <p:cNvPr id="252" name="Google Shape;252;p13"/>
          <p:cNvSpPr/>
          <p:nvPr/>
        </p:nvSpPr>
        <p:spPr>
          <a:xfrm>
            <a:off x="8096250" y="1752600"/>
            <a:ext cx="3581400" cy="3695700"/>
          </a:xfrm>
          <a:prstGeom prst="roundRect">
            <a:avLst>
              <a:gd fmla="val 2128" name="adj"/>
            </a:avLst>
          </a:prstGeom>
          <a:solidFill>
            <a:srgbClr val="16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3"/>
          <p:cNvSpPr/>
          <p:nvPr/>
        </p:nvSpPr>
        <p:spPr>
          <a:xfrm>
            <a:off x="8362950" y="2038350"/>
            <a:ext cx="3048000" cy="3086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1"/>
              </a:buClr>
              <a:buSzPts val="1350"/>
              <a:buFont typeface="Arial"/>
              <a:buNone/>
            </a:pPr>
            <a:r>
              <a:rPr lang="en-US" sz="1350">
                <a:solidFill>
                  <a:schemeClr val="lt1"/>
                </a:solidFill>
              </a:rPr>
              <a:t>Multiple peers and route management</a:t>
            </a:r>
            <a:endParaRPr sz="1350">
              <a:solidFill>
                <a:srgbClr val="FFFFFF"/>
              </a:solidFill>
            </a:endParaRPr>
          </a:p>
          <a:p>
            <a:pPr indent="0" lvl="0" marL="0" marR="0" rtl="0" algn="l">
              <a:spcBef>
                <a:spcPts val="0"/>
              </a:spcBef>
              <a:spcAft>
                <a:spcPts val="0"/>
              </a:spcAft>
              <a:buClr>
                <a:srgbClr val="FFFFFF"/>
              </a:buClr>
              <a:buSzPts val="1350"/>
              <a:buFont typeface="Arial"/>
              <a:buNone/>
            </a:pPr>
            <a:r>
              <a:t/>
            </a:r>
            <a:endParaRPr sz="1350">
              <a:solidFill>
                <a:srgbClr val="FFFFFF"/>
              </a:solidFill>
            </a:endParaRPr>
          </a:p>
          <a:p>
            <a:pPr indent="0" lvl="0" marL="0" marR="0" rtl="0" algn="l">
              <a:spcBef>
                <a:spcPts val="0"/>
              </a:spcBef>
              <a:spcAft>
                <a:spcPts val="0"/>
              </a:spcAft>
              <a:buClr>
                <a:srgbClr val="FFFFFF"/>
              </a:buClr>
              <a:buSzPts val="1350"/>
              <a:buFont typeface="Arial"/>
              <a:buNone/>
            </a:pPr>
            <a:r>
              <a:rPr b="0" lang="en-US" sz="1350">
                <a:solidFill>
                  <a:srgbClr val="FFFFFF"/>
                </a:solidFill>
              </a:rPr>
              <a:t>Session rekeying and key rotation</a:t>
            </a:r>
            <a:endParaRPr/>
          </a:p>
          <a:p>
            <a:pPr indent="0" lvl="0" marL="0" marR="0" rtl="0" algn="l">
              <a:spcBef>
                <a:spcPts val="0"/>
              </a:spcBef>
              <a:spcAft>
                <a:spcPts val="0"/>
              </a:spcAft>
              <a:buNone/>
            </a:pPr>
            <a:r>
              <a:t/>
            </a:r>
            <a:endParaRPr b="0" sz="1350">
              <a:solidFill>
                <a:srgbClr val="FFFFFF"/>
              </a:solidFill>
            </a:endParaRPr>
          </a:p>
          <a:p>
            <a:pPr indent="0" lvl="0" marL="0" marR="0" rtl="0" algn="l">
              <a:spcBef>
                <a:spcPts val="0"/>
              </a:spcBef>
              <a:spcAft>
                <a:spcPts val="0"/>
              </a:spcAft>
              <a:buClr>
                <a:srgbClr val="FFFFFF"/>
              </a:buClr>
              <a:buSzPts val="1350"/>
              <a:buFont typeface="Arial"/>
              <a:buNone/>
            </a:pPr>
            <a:r>
              <a:rPr b="0" lang="en-US" sz="1350">
                <a:solidFill>
                  <a:srgbClr val="FFFFFF"/>
                </a:solidFill>
              </a:rPr>
              <a:t>Privilege separation / capability reduction</a:t>
            </a:r>
            <a:endParaRPr/>
          </a:p>
          <a:p>
            <a:pPr indent="0" lvl="0" marL="0" marR="0" rtl="0" algn="l">
              <a:spcBef>
                <a:spcPts val="0"/>
              </a:spcBef>
              <a:spcAft>
                <a:spcPts val="0"/>
              </a:spcAft>
              <a:buNone/>
            </a:pPr>
            <a:r>
              <a:t/>
            </a:r>
            <a:endParaRPr b="0" sz="1350">
              <a:solidFill>
                <a:srgbClr val="FFFFFF"/>
              </a:solidFill>
            </a:endParaRPr>
          </a:p>
          <a:p>
            <a:pPr indent="0" lvl="0" marL="0" marR="0" rtl="0" algn="l">
              <a:spcBef>
                <a:spcPts val="0"/>
              </a:spcBef>
              <a:spcAft>
                <a:spcPts val="0"/>
              </a:spcAft>
              <a:buClr>
                <a:srgbClr val="FFFFFF"/>
              </a:buClr>
              <a:buSzPts val="1350"/>
              <a:buFont typeface="Arial"/>
              <a:buNone/>
            </a:pPr>
            <a:r>
              <a:rPr b="0" lang="en-US" sz="1350">
                <a:solidFill>
                  <a:srgbClr val="FFFFFF"/>
                </a:solidFill>
              </a:rPr>
              <a:t>Batching with recvmmsg()/sendmmsg()</a:t>
            </a:r>
            <a:endParaRPr/>
          </a:p>
          <a:p>
            <a:pPr indent="0" lvl="0" marL="0" marR="0" rtl="0" algn="l">
              <a:spcBef>
                <a:spcPts val="0"/>
              </a:spcBef>
              <a:spcAft>
                <a:spcPts val="0"/>
              </a:spcAft>
              <a:buNone/>
            </a:pPr>
            <a:r>
              <a:t/>
            </a:r>
            <a:endParaRPr b="0" sz="1350">
              <a:solidFill>
                <a:srgbClr val="FFFFFF"/>
              </a:solidFill>
            </a:endParaRPr>
          </a:p>
          <a:p>
            <a:pPr indent="0" lvl="0" marL="0" marR="0" rtl="0" algn="l">
              <a:spcBef>
                <a:spcPts val="0"/>
              </a:spcBef>
              <a:spcAft>
                <a:spcPts val="0"/>
              </a:spcAft>
              <a:buClr>
                <a:srgbClr val="FFFFFF"/>
              </a:buClr>
              <a:buSzPts val="1350"/>
              <a:buFont typeface="Arial"/>
              <a:buNone/>
            </a:pPr>
            <a:r>
              <a:rPr b="0" lang="en-US" sz="1350">
                <a:solidFill>
                  <a:srgbClr val="FFFFFF"/>
                </a:solidFill>
              </a:rPr>
              <a:t>Rate control and queue management</a:t>
            </a:r>
            <a:endParaRPr/>
          </a:p>
          <a:p>
            <a:pPr indent="0" lvl="0" marL="0" marR="0" rtl="0" algn="l">
              <a:spcBef>
                <a:spcPts val="0"/>
              </a:spcBef>
              <a:spcAft>
                <a:spcPts val="0"/>
              </a:spcAft>
              <a:buNone/>
            </a:pPr>
            <a:r>
              <a:t/>
            </a:r>
            <a:endParaRPr b="0" sz="1350">
              <a:solidFill>
                <a:srgbClr val="FFFFFF"/>
              </a:solidFill>
            </a:endParaRPr>
          </a:p>
          <a:p>
            <a:pPr indent="0" lvl="0" marL="0" marR="0" rtl="0" algn="l">
              <a:spcBef>
                <a:spcPts val="0"/>
              </a:spcBef>
              <a:spcAft>
                <a:spcPts val="0"/>
              </a:spcAft>
              <a:buClr>
                <a:srgbClr val="FFFFFF"/>
              </a:buClr>
              <a:buSzPts val="1350"/>
              <a:buFont typeface="Arial"/>
              <a:buNone/>
            </a:pPr>
            <a:r>
              <a:rPr b="0" lang="en-US" sz="1350">
                <a:solidFill>
                  <a:srgbClr val="FFFFFF"/>
                </a:solidFill>
              </a:rPr>
              <a:t>Metadata-hiding mechanisms</a:t>
            </a:r>
            <a:endParaRPr/>
          </a:p>
        </p:txBody>
      </p:sp>
      <p:sp>
        <p:nvSpPr>
          <p:cNvPr id="254" name="Google Shape;254;p13"/>
          <p:cNvSpPr/>
          <p:nvPr/>
        </p:nvSpPr>
        <p:spPr>
          <a:xfrm>
            <a:off x="514350" y="1428750"/>
            <a:ext cx="4762500" cy="209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D8DFF"/>
              </a:buClr>
              <a:buSzPts val="1050"/>
              <a:buFont typeface="Arial"/>
              <a:buNone/>
            </a:pPr>
            <a:r>
              <a:rPr b="1" lang="en-US" sz="1050">
                <a:solidFill>
                  <a:srgbClr val="3D8DFF"/>
                </a:solidFill>
              </a:rPr>
              <a:t>MEASURED RESULT</a:t>
            </a:r>
            <a:endParaRPr/>
          </a:p>
        </p:txBody>
      </p:sp>
      <p:sp>
        <p:nvSpPr>
          <p:cNvPr id="255" name="Google Shape;255;p13"/>
          <p:cNvSpPr/>
          <p:nvPr/>
        </p:nvSpPr>
        <p:spPr>
          <a:xfrm>
            <a:off x="11049000" y="6419850"/>
            <a:ext cx="647700" cy="1905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5E6672"/>
              </a:buClr>
              <a:buSzPts val="900"/>
              <a:buFont typeface="Arial"/>
              <a:buNone/>
            </a:pPr>
            <a:r>
              <a:rPr b="0" lang="en-US" sz="900">
                <a:solidFill>
                  <a:srgbClr val="5E6672"/>
                </a:solidFill>
              </a:rPr>
              <a:t>1</a:t>
            </a:r>
            <a:r>
              <a:rPr lang="en-US" sz="900">
                <a:solidFill>
                  <a:srgbClr val="5E6672"/>
                </a:solidFill>
              </a:rPr>
              <a:t>1</a:t>
            </a:r>
            <a:endParaRPr/>
          </a:p>
        </p:txBody>
      </p:sp>
      <p:sp>
        <p:nvSpPr>
          <p:cNvPr id="256" name="Google Shape;256;p13"/>
          <p:cNvSpPr/>
          <p:nvPr/>
        </p:nvSpPr>
        <p:spPr>
          <a:xfrm>
            <a:off x="552450" y="1885950"/>
            <a:ext cx="2190750" cy="457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250">
                <a:solidFill>
                  <a:srgbClr val="163A5F"/>
                </a:solidFill>
              </a:rPr>
              <a:t>45–55 Mbps</a:t>
            </a:r>
            <a:endParaRPr/>
          </a:p>
        </p:txBody>
      </p:sp>
      <p:sp>
        <p:nvSpPr>
          <p:cNvPr id="257" name="Google Shape;257;p13"/>
          <p:cNvSpPr/>
          <p:nvPr/>
        </p:nvSpPr>
        <p:spPr>
          <a:xfrm>
            <a:off x="2781300" y="1924050"/>
            <a:ext cx="4762500" cy="476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350">
                <a:solidFill>
                  <a:srgbClr val="111418"/>
                </a:solidFill>
              </a:rPr>
              <a:t>Typical encrypted TCP throughput across both directions</a:t>
            </a:r>
            <a:endParaRPr/>
          </a:p>
        </p:txBody>
      </p:sp>
      <p:sp>
        <p:nvSpPr>
          <p:cNvPr id="258" name="Google Shape;258;p13"/>
          <p:cNvSpPr/>
          <p:nvPr/>
        </p:nvSpPr>
        <p:spPr>
          <a:xfrm>
            <a:off x="552450" y="2667000"/>
            <a:ext cx="6991350" cy="9525"/>
          </a:xfrm>
          <a:prstGeom prst="rect">
            <a:avLst/>
          </a:prstGeom>
          <a:solidFill>
            <a:srgbClr val="B8BCC4"/>
          </a:solidFill>
          <a:ln cap="flat" cmpd="sng" w="9525">
            <a:solidFill>
              <a:srgbClr val="B8BC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3"/>
          <p:cNvSpPr/>
          <p:nvPr/>
        </p:nvSpPr>
        <p:spPr>
          <a:xfrm>
            <a:off x="552450" y="2990850"/>
            <a:ext cx="2190750" cy="457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250">
                <a:solidFill>
                  <a:srgbClr val="3D8DFF"/>
                </a:solidFill>
              </a:rPr>
              <a:t>≤0.5% loss</a:t>
            </a:r>
            <a:endParaRPr/>
          </a:p>
        </p:txBody>
      </p:sp>
      <p:sp>
        <p:nvSpPr>
          <p:cNvPr id="260" name="Google Shape;260;p13"/>
          <p:cNvSpPr/>
          <p:nvPr/>
        </p:nvSpPr>
        <p:spPr>
          <a:xfrm>
            <a:off x="2781300" y="3028950"/>
            <a:ext cx="4762500" cy="476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350">
                <a:solidFill>
                  <a:srgbClr val="111418"/>
                </a:solidFill>
              </a:rPr>
              <a:t>Encrypted UDP from 128 to 1372 bytes at a 20 Mbps offer</a:t>
            </a:r>
            <a:endParaRPr/>
          </a:p>
        </p:txBody>
      </p:sp>
      <p:sp>
        <p:nvSpPr>
          <p:cNvPr id="261" name="Google Shape;261;p13"/>
          <p:cNvSpPr/>
          <p:nvPr/>
        </p:nvSpPr>
        <p:spPr>
          <a:xfrm>
            <a:off x="552450" y="3771900"/>
            <a:ext cx="6991350" cy="9525"/>
          </a:xfrm>
          <a:prstGeom prst="rect">
            <a:avLst/>
          </a:prstGeom>
          <a:solidFill>
            <a:srgbClr val="B8BCC4"/>
          </a:solidFill>
          <a:ln cap="flat" cmpd="sng" w="9525">
            <a:solidFill>
              <a:srgbClr val="B8BC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3"/>
          <p:cNvSpPr/>
          <p:nvPr/>
        </p:nvSpPr>
        <p:spPr>
          <a:xfrm>
            <a:off x="552450" y="4095750"/>
            <a:ext cx="2190750" cy="457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250">
                <a:solidFill>
                  <a:srgbClr val="16876F"/>
                </a:solidFill>
              </a:rPr>
              <a:t>9–11 ms</a:t>
            </a:r>
            <a:endParaRPr/>
          </a:p>
        </p:txBody>
      </p:sp>
      <p:sp>
        <p:nvSpPr>
          <p:cNvPr id="263" name="Google Shape;263;p13"/>
          <p:cNvSpPr/>
          <p:nvPr/>
        </p:nvSpPr>
        <p:spPr>
          <a:xfrm>
            <a:off x="2781300" y="4133850"/>
            <a:ext cx="4762500" cy="476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350">
                <a:solidFill>
                  <a:srgbClr val="111418"/>
                </a:solidFill>
              </a:rPr>
              <a:t>Encrypted idle RTT across supported ICMP payload sizes</a:t>
            </a:r>
            <a:endParaRPr/>
          </a:p>
        </p:txBody>
      </p:sp>
      <p:sp>
        <p:nvSpPr>
          <p:cNvPr id="264" name="Google Shape;264;p13"/>
          <p:cNvSpPr/>
          <p:nvPr/>
        </p:nvSpPr>
        <p:spPr>
          <a:xfrm>
            <a:off x="552450" y="5905500"/>
            <a:ext cx="10668000" cy="32385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350">
                <a:solidFill>
                  <a:srgbClr val="111418"/>
                </a:solidFill>
              </a:rPr>
              <a:t>The design combines authenticated ephemeral key exchange, per-packet AEAD, replay protection and practical Raspberry Pi throughput.</a:t>
            </a:r>
            <a:endParaRPr/>
          </a:p>
        </p:txBody>
      </p:sp>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